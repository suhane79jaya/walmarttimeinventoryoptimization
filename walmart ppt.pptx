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61" r:id="rId4"/>
    <p:sldId id="263" r:id="rId5"/>
    <p:sldId id="264" r:id="rId6"/>
    <p:sldId id="259" r:id="rId7"/>
    <p:sldId id="260" r:id="rId8"/>
    <p:sldId id="265" r:id="rId9"/>
    <p:sldId id="266"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vnaga\Documents\JObAAj%20case%20study\DACS18-Walmart%20inventory%20optimization\DA01%20Retail_Inventory_Optimization_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[DA01 Retail_Inventory_Optimization_Data.xlsx]Q6!PivotTable5</c:name>
    <c:fmtId val="-1"/>
  </c:pivotSource>
  <c:chart>
    <c:autoTitleDeleted val="1"/>
    <c:plotArea>
      <c:layout>
        <c:manualLayout>
          <c:layoutTarget val="inner"/>
          <c:xMode val="edge"/>
          <c:yMode val="edge"/>
          <c:x val="0.0852329098917332"/>
          <c:y val="0.101998512877992"/>
          <c:w val="0.823825986782301"/>
          <c:h val="0.787616226764314"/>
        </c:manualLayout>
      </c:layout>
      <c:barChart>
        <c:barDir val="col"/>
        <c:grouping val="clustered"/>
        <c:varyColors val="0"/>
        <c:ser>
          <c:idx val="0"/>
          <c:order val="0"/>
          <c:tx>
            <c:strRef>
              <c:f>'[DA01 Retail_Inventory_Optimization_Data.xlsx]Q6'!$B$3:$B$4</c:f>
              <c:strCache>
                <c:ptCount val="1"/>
                <c:pt idx="0">
                  <c:v>Appliances</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'[DA01 Retail_Inventory_Optimization_Data.xlsx]Q6'!$A$5:$A$6</c:f>
              <c:strCache>
                <c:ptCount val="1"/>
                <c:pt idx="0">
                  <c:v>TRUE</c:v>
                </c:pt>
              </c:strCache>
            </c:strRef>
          </c:cat>
          <c:val>
            <c:numRef>
              <c:f>'[DA01 Retail_Inventory_Optimization_Data.xlsx]Q6'!$B$5:$B$6</c:f>
              <c:numCache>
                <c:formatCode>0.00%</c:formatCode>
                <c:ptCount val="1"/>
                <c:pt idx="0">
                  <c:v>0.479613733905579</c:v>
                </c:pt>
              </c:numCache>
            </c:numRef>
          </c:val>
        </c:ser>
        <c:ser>
          <c:idx val="1"/>
          <c:order val="1"/>
          <c:tx>
            <c:strRef>
              <c:f>'[DA01 Retail_Inventory_Optimization_Data.xlsx]Q6'!$C$3:$C$4</c:f>
              <c:strCache>
                <c:ptCount val="1"/>
                <c:pt idx="0">
                  <c:v>Electronics</c:v>
                </c:pt>
              </c:strCache>
            </c:strRef>
          </c:tx>
          <c:spPr>
            <a:solidFill>
              <a:schemeClr val="accent2"/>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'[DA01 Retail_Inventory_Optimization_Data.xlsx]Q6'!$A$5:$A$6</c:f>
              <c:strCache>
                <c:ptCount val="1"/>
                <c:pt idx="0">
                  <c:v>TRUE</c:v>
                </c:pt>
              </c:strCache>
            </c:strRef>
          </c:cat>
          <c:val>
            <c:numRef>
              <c:f>'[DA01 Retail_Inventory_Optimization_Data.xlsx]Q6'!$C$5:$C$6</c:f>
              <c:numCache>
                <c:formatCode>0.00%</c:formatCode>
                <c:ptCount val="1"/>
                <c:pt idx="0">
                  <c:v>0.520386266094421</c:v>
                </c:pt>
              </c:numCache>
            </c:numRef>
          </c:val>
        </c:ser>
        <c:dLbls>
          <c:showLegendKey val="0"/>
          <c:showVal val="1"/>
          <c:showCatName val="0"/>
          <c:showSerName val="0"/>
          <c:showPercent val="0"/>
          <c:showBubbleSize val="0"/>
        </c:dLbls>
        <c:gapWidth val="246"/>
        <c:overlap val="-28"/>
        <c:axId val="294123839"/>
        <c:axId val="375490749"/>
      </c:barChart>
      <c:catAx>
        <c:axId val="294123839"/>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75490749"/>
        <c:crosses val="autoZero"/>
        <c:auto val="1"/>
        <c:lblAlgn val="ctr"/>
        <c:lblOffset val="100"/>
        <c:noMultiLvlLbl val="0"/>
      </c:catAx>
      <c:valAx>
        <c:axId val="375490749"/>
        <c:scaling>
          <c:orientation val="minMax"/>
        </c:scaling>
        <c:delete val="0"/>
        <c:axPos val="l"/>
        <c:majorGridlines>
          <c:spPr>
            <a:ln w="9525" cap="flat" cmpd="sng" algn="ctr">
              <a:solidFill>
                <a:schemeClr val="lt1">
                  <a:lumMod val="90200"/>
                </a:schemeClr>
              </a:solidFill>
              <a:round/>
            </a:ln>
            <a:effectLst/>
          </c:spPr>
        </c:majorGridlines>
        <c:numFmt formatCode="0.00%"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94123839"/>
        <c:crosses val="autoZero"/>
        <c:crossBetween val="between"/>
      </c:valAx>
      <c:spPr>
        <a:solidFill>
          <a:schemeClr val="bg2"/>
        </a:solidFill>
        <a:ln>
          <a:noFill/>
        </a:ln>
        <a:effectLst/>
      </c:spPr>
    </c:plotArea>
    <c:legend>
      <c:legendPos val="r"/>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135ecb91-e4e5-4b0a-a3ef-ff2cda9f687e}"/>
      </c:ext>
    </c:extLst>
  </c:chart>
  <c:spPr>
    <a:solidFill>
      <a:srgbClr val="002060"/>
    </a:solidFill>
    <a:ln w="9525" cap="flat" cmpd="sng" algn="ctr">
      <a:solidFill>
        <a:schemeClr val="tx1">
          <a:lumMod val="15000"/>
          <a:lumOff val="85000"/>
        </a:schemeClr>
      </a:solid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5" name="Rectangle 8"/>
            <p:cNvSpPr>
              <a:spLocks noChangeArrowheads="1"/>
            </p:cNvSpPr>
            <p:nvPr/>
          </p:nvSpPr>
          <p:spPr bwMode="auto">
            <a:xfrm>
              <a:off x="414338" y="9525"/>
              <a:ext cx="28575" cy="4481513"/>
            </a:xfrm>
            <a:prstGeom prst="rect">
              <a:avLst/>
            </a:prstGeom>
            <a:grpFill/>
            <a:ln>
              <a:noFill/>
            </a:ln>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0" name="Rectangle 33"/>
            <p:cNvSpPr>
              <a:spLocks noChangeArrowheads="1"/>
            </p:cNvSpPr>
            <p:nvPr/>
          </p:nvSpPr>
          <p:spPr bwMode="auto">
            <a:xfrm>
              <a:off x="642938" y="6610350"/>
              <a:ext cx="23813" cy="242888"/>
            </a:xfrm>
            <a:prstGeom prst="rect">
              <a:avLst/>
            </a:prstGeom>
            <a:grpFill/>
            <a:ln>
              <a:noFill/>
            </a:ln>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52" name="Rectangle 45"/>
            <p:cNvSpPr>
              <a:spLocks noChangeArrowheads="1"/>
            </p:cNvSpPr>
            <p:nvPr/>
          </p:nvSpPr>
          <p:spPr bwMode="auto">
            <a:xfrm>
              <a:off x="1228725" y="4662488"/>
              <a:ext cx="23813" cy="2181225"/>
            </a:xfrm>
            <a:prstGeom prst="rect">
              <a:avLst/>
            </a:prstGeom>
            <a:grpFill/>
            <a:ln>
              <a:noFill/>
            </a:ln>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1.png"/><Relationship Id="rId20" Type="http://schemas.microsoft.com/office/2007/relationships/hdphoto" Target="../media/image3.wdp"/><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20">
                    <a14:imgEffect>
                      <a14:artisticTexturizer/>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37" name="Rectangle 21"/>
              <p:cNvSpPr>
                <a:spLocks noChangeArrowheads="1"/>
              </p:cNvSpPr>
              <p:nvPr/>
            </p:nvSpPr>
            <p:spPr bwMode="auto">
              <a:xfrm>
                <a:off x="133350" y="4662488"/>
                <a:ext cx="23813" cy="2181225"/>
              </a:xfrm>
              <a:prstGeom prst="rect">
                <a:avLst/>
              </a:prstGeom>
              <a:grpFill/>
              <a:ln>
                <a:noFill/>
              </a:ln>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0" name="Rectangle 41"/>
              <p:cNvSpPr>
                <a:spLocks noChangeArrowheads="1"/>
              </p:cNvSpPr>
              <p:nvPr/>
            </p:nvSpPr>
            <p:spPr bwMode="auto">
              <a:xfrm>
                <a:off x="11939587" y="6596063"/>
                <a:ext cx="23813" cy="252413"/>
              </a:xfrm>
              <a:prstGeom prst="rect">
                <a:avLst/>
              </a:prstGeom>
              <a:grpFill/>
              <a:ln>
                <a:noFill/>
              </a:ln>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5.png"/><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hyperlink" Target="https://www.linkedin.com/in/jaya-suhane-776142275/" TargetMode="External"/><Relationship Id="rId1" Type="http://schemas.openxmlformats.org/officeDocument/2006/relationships/hyperlink" Target="mailto:suhane79jaya@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0872" y="572655"/>
            <a:ext cx="9938327" cy="2770909"/>
          </a:xfrm>
        </p:spPr>
        <p:txBody>
          <a:bodyPr>
            <a:normAutofit/>
          </a:bodyPr>
          <a:lstStyle/>
          <a:p>
            <a:r>
              <a:rPr lang="en-US" sz="1600" b="1" dirty="0">
                <a:solidFill>
                  <a:schemeClr val="bg2"/>
                </a:solidFill>
              </a:rPr>
              <a:t>Enhancing Walmart's Inventory Management through Real-Time Demand Forecasting</a:t>
            </a:r>
            <a:endParaRPr lang="en-IN" sz="1600" b="1" dirty="0">
              <a:solidFill>
                <a:schemeClr val="bg2"/>
              </a:solidFill>
            </a:endParaRPr>
          </a:p>
        </p:txBody>
      </p:sp>
      <p:sp>
        <p:nvSpPr>
          <p:cNvPr id="3" name="Subtitle 2"/>
          <p:cNvSpPr>
            <a:spLocks noGrp="1"/>
          </p:cNvSpPr>
          <p:nvPr>
            <p:ph type="subTitle" idx="1"/>
          </p:nvPr>
        </p:nvSpPr>
        <p:spPr/>
        <p:txBody>
          <a:bodyPr/>
          <a:lstStyle/>
          <a:p>
            <a:pPr algn="ctr"/>
            <a:r>
              <a:rPr lang="en-US" dirty="0">
                <a:solidFill>
                  <a:srgbClr val="FFC000"/>
                </a:solidFill>
              </a:rPr>
              <a:t>Presented By</a:t>
            </a:r>
            <a:endParaRPr lang="en-US" dirty="0">
              <a:solidFill>
                <a:srgbClr val="FFC000"/>
              </a:solidFill>
            </a:endParaRPr>
          </a:p>
          <a:p>
            <a:pPr algn="ctr"/>
            <a:r>
              <a:rPr lang="en-US" dirty="0">
                <a:solidFill>
                  <a:schemeClr val="bg2">
                    <a:lumMod val="75000"/>
                  </a:schemeClr>
                </a:solidFill>
              </a:rPr>
              <a:t>JAYA SUAHNE</a:t>
            </a:r>
            <a:endParaRPr lang="en-US" dirty="0">
              <a:solidFill>
                <a:schemeClr val="bg2">
                  <a:lumMod val="75000"/>
                </a:schemeClr>
              </a:solidFill>
            </a:endParaRPr>
          </a:p>
          <a:p>
            <a:pPr algn="ctr"/>
            <a:r>
              <a:rPr lang="en-US" dirty="0">
                <a:solidFill>
                  <a:schemeClr val="bg2">
                    <a:lumMod val="75000"/>
                  </a:schemeClr>
                </a:solidFill>
              </a:rPr>
              <a:t>03/03/2025</a:t>
            </a:r>
            <a:endParaRPr lang="en-IN" dirty="0">
              <a:solidFill>
                <a:schemeClr val="bg2">
                  <a:lumMod val="75000"/>
                </a:schemeClr>
              </a:solidFill>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73600" y="1884219"/>
            <a:ext cx="2918402" cy="8497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71345" y="1163320"/>
            <a:ext cx="9176385" cy="939165"/>
          </a:xfrm>
        </p:spPr>
        <p:txBody>
          <a:bodyPr>
            <a:normAutofit/>
          </a:bodyPr>
          <a:lstStyle/>
          <a:p>
            <a:pPr algn="ctr"/>
            <a:r>
              <a:rPr lang="en-US" dirty="0">
                <a:solidFill>
                  <a:srgbClr val="0070C0"/>
                </a:solidFill>
              </a:rPr>
              <a:t>Content</a:t>
            </a:r>
            <a:endParaRPr lang="en-US" dirty="0">
              <a:solidFill>
                <a:srgbClr val="0070C0"/>
              </a:solidFill>
            </a:endParaRPr>
          </a:p>
        </p:txBody>
      </p:sp>
      <p:sp>
        <p:nvSpPr>
          <p:cNvPr id="5" name="Content Placeholder 4"/>
          <p:cNvSpPr>
            <a:spLocks noGrp="1"/>
          </p:cNvSpPr>
          <p:nvPr>
            <p:ph sz="half" idx="1"/>
          </p:nvPr>
        </p:nvSpPr>
        <p:spPr/>
        <p:txBody>
          <a:bodyPr>
            <a:normAutofit/>
          </a:bodyPr>
          <a:lstStyle/>
          <a:p>
            <a:r>
              <a:rPr lang="en-US" altLang="en-IN" dirty="0">
                <a:solidFill>
                  <a:schemeClr val="bg1"/>
                </a:solidFill>
                <a:sym typeface="+mn-ea"/>
              </a:rPr>
              <a:t>Introduction</a:t>
            </a:r>
            <a:endParaRPr lang="en-US" altLang="en-IN" dirty="0">
              <a:solidFill>
                <a:schemeClr val="bg1"/>
              </a:solidFill>
            </a:endParaRPr>
          </a:p>
          <a:p>
            <a:r>
              <a:rPr lang="en-US" altLang="en-IN" dirty="0">
                <a:solidFill>
                  <a:schemeClr val="bg1"/>
                </a:solidFill>
                <a:sym typeface="+mn-ea"/>
              </a:rPr>
              <a:t>Background</a:t>
            </a:r>
            <a:endParaRPr lang="en-US" altLang="en-IN" dirty="0">
              <a:solidFill>
                <a:schemeClr val="bg1"/>
              </a:solidFill>
              <a:sym typeface="+mn-ea"/>
            </a:endParaRPr>
          </a:p>
          <a:p>
            <a:r>
              <a:rPr lang="en-US" altLang="en-IN" dirty="0">
                <a:solidFill>
                  <a:schemeClr val="bg1"/>
                </a:solidFill>
                <a:sym typeface="+mn-ea"/>
              </a:rPr>
              <a:t>Problem</a:t>
            </a:r>
            <a:endParaRPr lang="en-US" altLang="en-IN" dirty="0">
              <a:solidFill>
                <a:schemeClr val="bg1"/>
              </a:solidFill>
            </a:endParaRPr>
          </a:p>
          <a:p>
            <a:r>
              <a:rPr lang="en-US" altLang="en-IN" dirty="0">
                <a:solidFill>
                  <a:schemeClr val="bg1"/>
                </a:solidFill>
                <a:sym typeface="+mn-ea"/>
              </a:rPr>
              <a:t>Solution</a:t>
            </a:r>
            <a:endParaRPr lang="en-US" altLang="en-IN" dirty="0">
              <a:solidFill>
                <a:schemeClr val="bg1"/>
              </a:solidFill>
            </a:endParaRPr>
          </a:p>
          <a:p>
            <a:r>
              <a:rPr lang="en-US" altLang="en-IN" dirty="0">
                <a:solidFill>
                  <a:schemeClr val="bg1"/>
                </a:solidFill>
                <a:sym typeface="+mn-ea"/>
              </a:rPr>
              <a:t>Project Scope</a:t>
            </a:r>
            <a:endParaRPr lang="en-US" altLang="en-IN" dirty="0">
              <a:solidFill>
                <a:schemeClr val="bg1"/>
              </a:solidFill>
            </a:endParaRPr>
          </a:p>
          <a:p>
            <a:r>
              <a:rPr lang="en-US" altLang="en-IN" dirty="0">
                <a:solidFill>
                  <a:schemeClr val="bg1"/>
                </a:solidFill>
                <a:sym typeface="+mn-ea"/>
              </a:rPr>
              <a:t>Methodology</a:t>
            </a:r>
            <a:endParaRPr lang="en-US" altLang="en-IN" dirty="0">
              <a:solidFill>
                <a:schemeClr val="bg1"/>
              </a:solidFill>
            </a:endParaRPr>
          </a:p>
          <a:p>
            <a:endParaRPr lang="en-US" altLang="en-IN" dirty="0">
              <a:solidFill>
                <a:schemeClr val="bg1"/>
              </a:solidFill>
            </a:endParaRPr>
          </a:p>
        </p:txBody>
      </p:sp>
      <p:sp>
        <p:nvSpPr>
          <p:cNvPr id="6" name="Content Placeholder 5"/>
          <p:cNvSpPr>
            <a:spLocks noGrp="1"/>
          </p:cNvSpPr>
          <p:nvPr>
            <p:ph sz="half" idx="2"/>
          </p:nvPr>
        </p:nvSpPr>
        <p:spPr/>
        <p:txBody>
          <a:bodyPr>
            <a:normAutofit/>
          </a:bodyPr>
          <a:lstStyle/>
          <a:p>
            <a:r>
              <a:rPr lang="en-US" altLang="en-IN" dirty="0">
                <a:solidFill>
                  <a:schemeClr val="bg1"/>
                </a:solidFill>
                <a:sym typeface="+mn-ea"/>
              </a:rPr>
              <a:t>Goals and KPI’s</a:t>
            </a:r>
            <a:endParaRPr lang="en-US" altLang="en-IN" dirty="0">
              <a:solidFill>
                <a:schemeClr val="bg1"/>
              </a:solidFill>
            </a:endParaRPr>
          </a:p>
          <a:p>
            <a:r>
              <a:rPr lang="en-US" altLang="en-IN" dirty="0">
                <a:solidFill>
                  <a:schemeClr val="bg1"/>
                </a:solidFill>
                <a:sym typeface="+mn-ea"/>
              </a:rPr>
              <a:t>Technical Process</a:t>
            </a:r>
            <a:endParaRPr lang="en-US" altLang="en-IN" dirty="0">
              <a:solidFill>
                <a:schemeClr val="bg1"/>
              </a:solidFill>
            </a:endParaRPr>
          </a:p>
          <a:p>
            <a:r>
              <a:rPr lang="en-US" altLang="en-IN" dirty="0">
                <a:solidFill>
                  <a:schemeClr val="bg1"/>
                </a:solidFill>
                <a:sym typeface="+mn-ea"/>
              </a:rPr>
              <a:t>Business Concept</a:t>
            </a:r>
            <a:endParaRPr lang="en-US" altLang="en-IN" dirty="0">
              <a:solidFill>
                <a:schemeClr val="bg1"/>
              </a:solidFill>
            </a:endParaRPr>
          </a:p>
          <a:p>
            <a:r>
              <a:rPr lang="en-US" dirty="0" err="1">
                <a:solidFill>
                  <a:schemeClr val="bg1"/>
                </a:solidFill>
              </a:rPr>
              <a:t>Recommandations</a:t>
            </a:r>
            <a:endParaRPr lang="en-US" dirty="0">
              <a:solidFill>
                <a:schemeClr val="bg1"/>
              </a:solidFill>
            </a:endParaRPr>
          </a:p>
          <a:p>
            <a:r>
              <a:rPr lang="en-US" dirty="0">
                <a:solidFill>
                  <a:schemeClr val="bg1"/>
                </a:solidFill>
              </a:rPr>
              <a:t>Conclusion</a:t>
            </a:r>
            <a:endParaRPr lang="en-US" dirty="0">
              <a:solidFill>
                <a:schemeClr val="bg1"/>
              </a:solidFill>
            </a:endParaRPr>
          </a:p>
          <a:p>
            <a:r>
              <a:rPr lang="en-US" dirty="0">
                <a:solidFill>
                  <a:schemeClr val="bg1"/>
                </a:solidFill>
              </a:rPr>
              <a:t>Project Owner</a:t>
            </a:r>
            <a:endParaRPr lang="en-US" dirty="0">
              <a:solidFill>
                <a:schemeClr val="bg1"/>
              </a:solidFill>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00535" y="166573"/>
            <a:ext cx="2918402" cy="84974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1730" y="618490"/>
            <a:ext cx="9906000" cy="1181735"/>
          </a:xfrm>
        </p:spPr>
        <p:txBody>
          <a:bodyPr/>
          <a:lstStyle/>
          <a:p>
            <a:pPr algn="ctr"/>
            <a:r>
              <a:rPr lang="en-US" sz="3200" dirty="0">
                <a:solidFill>
                  <a:srgbClr val="0070C0"/>
                </a:solidFill>
                <a:sym typeface="+mn-ea"/>
              </a:rPr>
              <a:t>Introduction </a:t>
            </a:r>
            <a:endParaRPr lang="en-US" sz="3200" dirty="0">
              <a:solidFill>
                <a:srgbClr val="0070C0"/>
              </a:solidFill>
            </a:endParaRPr>
          </a:p>
        </p:txBody>
      </p:sp>
      <p:sp>
        <p:nvSpPr>
          <p:cNvPr id="5" name="Content Placeholder 4"/>
          <p:cNvSpPr>
            <a:spLocks noGrp="1"/>
          </p:cNvSpPr>
          <p:nvPr>
            <p:ph idx="1"/>
          </p:nvPr>
        </p:nvSpPr>
        <p:spPr>
          <a:xfrm>
            <a:off x="373380" y="1800225"/>
            <a:ext cx="10673715" cy="3608070"/>
          </a:xfrm>
        </p:spPr>
        <p:txBody>
          <a:bodyPr>
            <a:normAutofit lnSpcReduction="10000"/>
          </a:bodyPr>
          <a:lstStyle/>
          <a:p>
            <a:r>
              <a:rPr lang="en-US" sz="2800" dirty="0">
                <a:solidFill>
                  <a:schemeClr val="accent2"/>
                </a:solidFill>
              </a:rPr>
              <a:t>Introduction</a:t>
            </a:r>
            <a:endParaRPr lang="en-US" sz="2800" dirty="0">
              <a:solidFill>
                <a:schemeClr val="accent2"/>
              </a:solidFill>
            </a:endParaRPr>
          </a:p>
          <a:p>
            <a:pPr marL="0" indent="0">
              <a:buNone/>
            </a:pPr>
            <a:r>
              <a:rPr lang="en-US" altLang="en-US" dirty="0">
                <a:solidFill>
                  <a:schemeClr val="bg1"/>
                </a:solidFill>
              </a:rPr>
              <a:t>Walmart is the world‘s largest retailer outside of China and one of the most recognizable brands in America. Since its founding in 1962, Walmart has redefined the retail landscape with its Everyday Low Prices strategy and vast selection of merchandise. But what exactly is Walmart and what makes it stand out in the competitive retail market? This comprehensive 3,000+ word guide takes an in-depth look at Walmart‘s origins, business model, store formats, products, pricing, competitors, innovations, and more while providing unique analysis from an expert retail lens.</a:t>
            </a:r>
            <a:endParaRPr lang="en-US" altLang="en-US" dirty="0">
              <a:solidFill>
                <a:schemeClr val="bg1"/>
              </a:solidFill>
            </a:endParaRPr>
          </a:p>
          <a:p>
            <a:pPr marL="0" indent="0">
              <a:buNone/>
            </a:pPr>
            <a:endParaRPr lang="en-US" altLang="en-US" dirty="0">
              <a:solidFill>
                <a:schemeClr val="bg1"/>
              </a:solidFill>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55873" y="239945"/>
            <a:ext cx="2918402" cy="6554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br>
              <a:rPr lang="en-US" dirty="0"/>
            </a:br>
            <a:r>
              <a:rPr lang="en-US" sz="3200" b="1" dirty="0">
                <a:solidFill>
                  <a:srgbClr val="0070C0"/>
                </a:solidFill>
              </a:rPr>
              <a:t>Background</a:t>
            </a:r>
            <a:endParaRPr lang="en-US" sz="3200" b="1" dirty="0">
              <a:solidFill>
                <a:srgbClr val="0070C0"/>
              </a:solidFill>
            </a:endParaRPr>
          </a:p>
        </p:txBody>
      </p:sp>
      <p:sp>
        <p:nvSpPr>
          <p:cNvPr id="6" name="Content Placeholder 5"/>
          <p:cNvSpPr>
            <a:spLocks noGrp="1"/>
          </p:cNvSpPr>
          <p:nvPr>
            <p:ph idx="1"/>
          </p:nvPr>
        </p:nvSpPr>
        <p:spPr/>
        <p:txBody>
          <a:bodyPr>
            <a:normAutofit/>
          </a:bodyPr>
          <a:lstStyle/>
          <a:p>
            <a:pPr marL="0" indent="0">
              <a:buNone/>
            </a:pPr>
            <a:r>
              <a:rPr lang="en-US" altLang="en-US">
                <a:solidFill>
                  <a:schemeClr val="bg1"/>
                </a:solidFill>
              </a:rPr>
              <a:t>Walmart‘s story begins in 1962 when founder Sam Walton opened the first Walmart store in Rogers, Arkansas. Walton had previous retail experience as an owner of Ben Franklin franchise stores, but he envisioned bringing discount shopping to small-town America. This first Walmart store centered on Walton‘s revolutionary mission to offer customers quality goods at the lowest possible price every day. The value positioning resonated strongly with recession-weary shoppers and by 1967, Walton had expanded to 24 stores across Arkansas.</a:t>
            </a:r>
            <a:endParaRPr lang="en-US" altLang="en-US">
              <a:solidFill>
                <a:schemeClr val="bg1"/>
              </a:solidFill>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55873" y="239945"/>
            <a:ext cx="2918402" cy="6554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971550"/>
            <a:ext cx="9905998" cy="1125538"/>
          </a:xfrm>
          <a:noFill/>
        </p:spPr>
        <p:txBody>
          <a:bodyPr>
            <a:normAutofit/>
          </a:bodyPr>
          <a:lstStyle/>
          <a:p>
            <a:pPr algn="ctr"/>
            <a:r>
              <a:rPr lang="en-US" sz="3200" dirty="0">
                <a:solidFill>
                  <a:srgbClr val="0070C0"/>
                </a:solidFill>
              </a:rPr>
              <a:t>Problem Statement and Solution</a:t>
            </a:r>
            <a:endParaRPr lang="en-IN" sz="3200" dirty="0">
              <a:solidFill>
                <a:srgbClr val="0070C0"/>
              </a:solidFill>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55873" y="239945"/>
            <a:ext cx="2918402" cy="655406"/>
          </a:xfrm>
          <a:prstGeom prst="rect">
            <a:avLst/>
          </a:prstGeom>
        </p:spPr>
      </p:pic>
      <p:sp>
        <p:nvSpPr>
          <p:cNvPr id="7" name="Content Placeholder 6"/>
          <p:cNvSpPr>
            <a:spLocks noGrp="1"/>
          </p:cNvSpPr>
          <p:nvPr>
            <p:ph idx="1"/>
          </p:nvPr>
        </p:nvSpPr>
        <p:spPr>
          <a:xfrm>
            <a:off x="1141412" y="2249486"/>
            <a:ext cx="9905999" cy="4303713"/>
          </a:xfrm>
          <a:noFill/>
        </p:spPr>
        <p:txBody>
          <a:bodyPr>
            <a:normAutofit lnSpcReduction="20000"/>
          </a:bodyPr>
          <a:lstStyle/>
          <a:p>
            <a:pPr marL="0" indent="0">
              <a:buNone/>
            </a:pPr>
            <a:r>
              <a:rPr lang="en-US" sz="2800" b="1" u="sng" kern="100" dirty="0">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Problem Statement</a:t>
            </a:r>
            <a:endParaRPr lang="en-US" sz="2800" b="1" u="sng" kern="100" dirty="0">
              <a:solidFill>
                <a:schemeClr val="accent2"/>
              </a:solidFill>
              <a:effectLst/>
              <a:latin typeface="Arial" panose="020B0604020202020204" pitchFamily="34" charset="0"/>
              <a:ea typeface="Calibri" panose="020F0502020204030204" pitchFamily="34" charset="0"/>
              <a:cs typeface="Times New Roman" panose="02020603050405020304" pitchFamily="18" charset="0"/>
            </a:endParaRPr>
          </a:p>
          <a:p>
            <a:pPr marL="0" indent="0">
              <a:buNone/>
            </a:pPr>
            <a:r>
              <a:rPr lang="en-US" kern="100" dirty="0">
                <a:solidFill>
                  <a:schemeClr val="bg1"/>
                </a:solidFill>
                <a:effectLst/>
                <a:ea typeface="Calibri" panose="020F0502020204030204" pitchFamily="34" charset="0"/>
                <a:cs typeface="+mn-lt"/>
              </a:rPr>
              <a:t>Walmart faces inventory management challenges, struggling to balance stockouts and overstocking. The problem requires a data-driven solution that dynamically adjusts inventory levels by forecasting demand based on past sales and real-time insights.</a:t>
            </a:r>
            <a:endParaRPr lang="en-US" kern="100" dirty="0">
              <a:solidFill>
                <a:schemeClr val="bg1"/>
              </a:solidFill>
              <a:effectLst/>
              <a:cs typeface="+mn-lt"/>
            </a:endParaRPr>
          </a:p>
          <a:p>
            <a:pPr marL="0" indent="0">
              <a:buNone/>
            </a:pPr>
            <a:r>
              <a:rPr lang="en-IN" sz="2800" b="1" kern="100" dirty="0">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Solution</a:t>
            </a:r>
            <a:endParaRPr lang="en-IN" sz="2800" b="1" kern="100" dirty="0">
              <a:solidFill>
                <a:schemeClr val="accent2"/>
              </a:solidFill>
              <a:effectLst/>
              <a:latin typeface="Arial" panose="020B0604020202020204" pitchFamily="34" charset="0"/>
              <a:ea typeface="Calibri" panose="020F0502020204030204" pitchFamily="34" charset="0"/>
              <a:cs typeface="Times New Roman" panose="02020603050405020304" pitchFamily="18" charset="0"/>
            </a:endParaRPr>
          </a:p>
          <a:p>
            <a:pPr marL="0" indent="0">
              <a:buNone/>
            </a:pPr>
            <a:r>
              <a:rPr lang="en-US" kern="100" dirty="0">
                <a:solidFill>
                  <a:schemeClr val="bg1"/>
                </a:solidFill>
                <a:effectLst/>
                <a:ea typeface="Calibri" panose="020F0502020204030204" pitchFamily="34" charset="0"/>
                <a:cs typeface="+mn-lt"/>
              </a:rPr>
              <a:t>The project will follow an </a:t>
            </a:r>
            <a:r>
              <a:rPr lang="en-US" b="1" kern="100" dirty="0">
                <a:solidFill>
                  <a:schemeClr val="bg1"/>
                </a:solidFill>
                <a:effectLst/>
                <a:ea typeface="Calibri" panose="020F0502020204030204" pitchFamily="34" charset="0"/>
                <a:cs typeface="+mn-lt"/>
              </a:rPr>
              <a:t>Agile methodology</a:t>
            </a:r>
            <a:r>
              <a:rPr lang="en-US" kern="100" dirty="0">
                <a:solidFill>
                  <a:schemeClr val="bg1"/>
                </a:solidFill>
                <a:effectLst/>
                <a:ea typeface="Calibri" panose="020F0502020204030204" pitchFamily="34" charset="0"/>
                <a:cs typeface="+mn-lt"/>
              </a:rPr>
              <a:t>, dividing work into sprints—short, time-boxed periods focused on specific tasks—to allow for continuous value delivery and adaptability based on insights gained during the process. </a:t>
            </a:r>
            <a:endParaRPr lang="en-US" kern="100" dirty="0">
              <a:solidFill>
                <a:schemeClr val="bg1"/>
              </a:solidFill>
              <a:effectLst/>
              <a:cs typeface="+mn-lt"/>
            </a:endParaRPr>
          </a:p>
          <a:p>
            <a:endParaRPr lang="en-US" kern="100" dirty="0">
              <a:solidFill>
                <a:schemeClr val="bg1"/>
              </a:solidFill>
              <a:effectLs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75" y="695325"/>
            <a:ext cx="9906000" cy="1038860"/>
          </a:xfrm>
        </p:spPr>
        <p:txBody>
          <a:bodyPr>
            <a:normAutofit/>
          </a:bodyPr>
          <a:lstStyle/>
          <a:p>
            <a:pPr algn="ctr"/>
            <a:r>
              <a:rPr lang="en-US" altLang="en-IN" sz="3200" b="1" dirty="0">
                <a:solidFill>
                  <a:srgbClr val="0070C0"/>
                </a:solidFill>
              </a:rPr>
              <a:t>Project Scope</a:t>
            </a:r>
            <a:endParaRPr lang="en-US" altLang="en-IN" sz="3200" b="1" dirty="0">
              <a:solidFill>
                <a:srgbClr val="0070C0"/>
              </a:solidFill>
            </a:endParaRPr>
          </a:p>
        </p:txBody>
      </p:sp>
      <p:sp>
        <p:nvSpPr>
          <p:cNvPr id="3" name="Content Placeholder 2"/>
          <p:cNvSpPr>
            <a:spLocks noGrp="1"/>
          </p:cNvSpPr>
          <p:nvPr>
            <p:ph idx="1"/>
          </p:nvPr>
        </p:nvSpPr>
        <p:spPr>
          <a:xfrm>
            <a:off x="1361440" y="1734185"/>
            <a:ext cx="10516235" cy="4964430"/>
          </a:xfrm>
        </p:spPr>
        <p:txBody>
          <a:bodyPr>
            <a:normAutofit/>
          </a:bodyPr>
          <a:lstStyle/>
          <a:p>
            <a:pPr marL="0" indent="0">
              <a:buNone/>
            </a:pPr>
            <a:r>
              <a:rPr lang="en-US" altLang="en-US" dirty="0">
                <a:solidFill>
                  <a:schemeClr val="bg1"/>
                </a:solidFill>
              </a:rPr>
              <a:t>The project scope for Walmart's real-time demand forecasting initiative encompasses several key components:</a:t>
            </a:r>
            <a:endParaRPr lang="en-US" altLang="en-US" dirty="0">
              <a:solidFill>
                <a:schemeClr val="bg1"/>
              </a:solidFill>
            </a:endParaRPr>
          </a:p>
          <a:p>
            <a:pPr marL="0" indent="0">
              <a:buNone/>
            </a:pPr>
            <a:r>
              <a:rPr lang="en-US" altLang="en-US" dirty="0">
                <a:solidFill>
                  <a:schemeClr val="bg1"/>
                </a:solidFill>
              </a:rPr>
              <a:t>1.Data Collection and Integration</a:t>
            </a:r>
            <a:endParaRPr lang="en-US" altLang="en-US" dirty="0">
              <a:solidFill>
                <a:schemeClr val="bg1"/>
              </a:solidFill>
            </a:endParaRPr>
          </a:p>
          <a:p>
            <a:pPr marL="0" indent="0">
              <a:buNone/>
            </a:pPr>
            <a:r>
              <a:rPr lang="en-US" altLang="en-US" dirty="0">
                <a:solidFill>
                  <a:schemeClr val="bg1"/>
                </a:solidFill>
              </a:rPr>
              <a:t>2.Demand Forecasting Model Development</a:t>
            </a:r>
            <a:endParaRPr lang="en-US" altLang="en-US" dirty="0">
              <a:solidFill>
                <a:schemeClr val="bg1"/>
              </a:solidFill>
            </a:endParaRPr>
          </a:p>
          <a:p>
            <a:pPr marL="0" indent="0">
              <a:buNone/>
            </a:pPr>
            <a:r>
              <a:rPr lang="en-US" altLang="en-US" dirty="0">
                <a:solidFill>
                  <a:schemeClr val="bg1"/>
                </a:solidFill>
              </a:rPr>
              <a:t>3. Real-Time Data Processing</a:t>
            </a:r>
            <a:endParaRPr lang="en-US" altLang="en-US" dirty="0">
              <a:solidFill>
                <a:schemeClr val="bg1"/>
              </a:solidFill>
            </a:endParaRPr>
          </a:p>
          <a:p>
            <a:pPr marL="0" indent="0">
              <a:buNone/>
            </a:pPr>
            <a:r>
              <a:rPr lang="en-US" altLang="en-US" dirty="0">
                <a:solidFill>
                  <a:schemeClr val="bg1"/>
                </a:solidFill>
              </a:rPr>
              <a:t>4. Agile Project Management</a:t>
            </a:r>
            <a:endParaRPr lang="en-US" altLang="en-US" dirty="0">
              <a:solidFill>
                <a:schemeClr val="bg1"/>
              </a:solidFill>
            </a:endParaRPr>
          </a:p>
          <a:p>
            <a:pPr marL="0" indent="0">
              <a:buNone/>
            </a:pPr>
            <a:r>
              <a:rPr lang="en-US" altLang="en-US" dirty="0">
                <a:solidFill>
                  <a:schemeClr val="bg1"/>
                </a:solidFill>
              </a:rPr>
              <a:t>5. Actionable Insights and Recommendations</a:t>
            </a:r>
            <a:endParaRPr lang="en-US" altLang="en-US" dirty="0">
              <a:solidFill>
                <a:schemeClr val="bg1"/>
              </a:solidFill>
            </a:endParaRPr>
          </a:p>
          <a:p>
            <a:pPr marL="0" indent="0">
              <a:buNone/>
            </a:pPr>
            <a:r>
              <a:rPr lang="en-US" altLang="en-US" dirty="0">
                <a:solidFill>
                  <a:schemeClr val="bg1"/>
                </a:solidFill>
              </a:rPr>
              <a:t>6. Performance Monitoring and Optimization:</a:t>
            </a:r>
            <a:endParaRPr lang="en-US" altLang="en-US" dirty="0">
              <a:solidFill>
                <a:schemeClr val="bg1"/>
              </a:solidFill>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55873" y="239945"/>
            <a:ext cx="2918402" cy="4553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730" y="1136073"/>
            <a:ext cx="9906000" cy="960582"/>
          </a:xfrm>
        </p:spPr>
        <p:txBody>
          <a:bodyPr>
            <a:normAutofit/>
          </a:bodyPr>
          <a:lstStyle/>
          <a:p>
            <a:pPr algn="ctr"/>
            <a:r>
              <a:rPr lang="en-US" sz="2800" b="1" dirty="0">
                <a:solidFill>
                  <a:srgbClr val="0070C0"/>
                </a:solidFill>
              </a:rPr>
              <a:t>Methodology</a:t>
            </a:r>
            <a:endParaRPr lang="en-US" sz="2800" b="1" dirty="0">
              <a:solidFill>
                <a:srgbClr val="0070C0"/>
              </a:solidFill>
            </a:endParaRPr>
          </a:p>
        </p:txBody>
      </p:sp>
      <p:sp>
        <p:nvSpPr>
          <p:cNvPr id="3" name="Content Placeholder 2"/>
          <p:cNvSpPr>
            <a:spLocks noGrp="1"/>
          </p:cNvSpPr>
          <p:nvPr>
            <p:ph idx="1"/>
          </p:nvPr>
        </p:nvSpPr>
        <p:spPr>
          <a:xfrm>
            <a:off x="1141095" y="2484583"/>
            <a:ext cx="10551160" cy="3962400"/>
          </a:xfrm>
        </p:spPr>
        <p:txBody>
          <a:bodyPr>
            <a:normAutofit fontScale="95000" lnSpcReduction="10000"/>
          </a:bodyPr>
          <a:lstStyle/>
          <a:p>
            <a:r>
              <a:rPr lang="en-US" altLang="en-US" sz="2525" dirty="0">
                <a:solidFill>
                  <a:schemeClr val="bg1"/>
                </a:solidFill>
              </a:rPr>
              <a:t>Adopt an Agile methodology, dividing the project into sprints to facilitate continuous value delivery and adaptability.</a:t>
            </a:r>
            <a:endParaRPr lang="en-US" altLang="en-US" sz="2525" dirty="0">
              <a:solidFill>
                <a:schemeClr val="bg1"/>
              </a:solidFill>
            </a:endParaRPr>
          </a:p>
          <a:p>
            <a:r>
              <a:rPr lang="en-US" altLang="en-US" sz="2525" dirty="0">
                <a:solidFill>
                  <a:schemeClr val="bg1"/>
                </a:solidFill>
              </a:rPr>
              <a:t>Agile Methodology Implementation</a:t>
            </a:r>
            <a:endParaRPr lang="en-US" altLang="en-US" sz="2525" dirty="0">
              <a:solidFill>
                <a:schemeClr val="bg1"/>
              </a:solidFill>
            </a:endParaRPr>
          </a:p>
          <a:p>
            <a:r>
              <a:rPr lang="en-US" altLang="en-US" sz="2525" dirty="0">
                <a:solidFill>
                  <a:schemeClr val="bg1"/>
                </a:solidFill>
              </a:rPr>
              <a:t>Sprint 1: Data Collection and Cleaning </a:t>
            </a:r>
            <a:endParaRPr lang="en-US" altLang="en-US" sz="2525" dirty="0">
              <a:solidFill>
                <a:schemeClr val="bg1"/>
              </a:solidFill>
            </a:endParaRPr>
          </a:p>
          <a:p>
            <a:r>
              <a:rPr lang="en-US" altLang="en-US" sz="2525" dirty="0">
                <a:solidFill>
                  <a:schemeClr val="bg1"/>
                </a:solidFill>
              </a:rPr>
              <a:t>○ Conduct initial exploratory data analysis (EDA) to identify data patterns, clean missing values, and ensure data consistency. </a:t>
            </a:r>
            <a:endParaRPr lang="en-US" altLang="en-US" sz="2525" dirty="0">
              <a:solidFill>
                <a:schemeClr val="bg1"/>
              </a:solidFill>
            </a:endParaRPr>
          </a:p>
          <a:p>
            <a:r>
              <a:rPr lang="en-US" altLang="en-US" sz="2525" dirty="0">
                <a:solidFill>
                  <a:schemeClr val="bg1"/>
                </a:solidFill>
              </a:rPr>
              <a:t>○ Collaborate with stakeholders (inventory managers and store managers) to </a:t>
            </a:r>
            <a:endParaRPr lang="en-US" altLang="en-US" sz="2525" dirty="0">
              <a:solidFill>
                <a:schemeClr val="bg1"/>
              </a:solidFill>
            </a:endParaRPr>
          </a:p>
          <a:p>
            <a:r>
              <a:rPr lang="en-US" altLang="en-US" sz="2525" dirty="0">
                <a:solidFill>
                  <a:schemeClr val="bg1"/>
                </a:solidFill>
              </a:rPr>
              <a:t>define key metrics for the analysis.</a:t>
            </a:r>
            <a:endParaRPr lang="en-US" altLang="en-US" sz="2525" dirty="0">
              <a:solidFill>
                <a:schemeClr val="bg1"/>
              </a:solidFill>
            </a:endParaRPr>
          </a:p>
          <a:p>
            <a:endParaRPr lang="en-US" altLang="en-US" sz="2000" dirty="0"/>
          </a:p>
          <a:p>
            <a:endParaRPr lang="en-US" altLang="en-US" sz="2000"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57474" y="101400"/>
            <a:ext cx="2918402" cy="6554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730" y="862965"/>
            <a:ext cx="9906000" cy="627380"/>
          </a:xfrm>
        </p:spPr>
        <p:txBody>
          <a:bodyPr>
            <a:normAutofit/>
          </a:bodyPr>
          <a:lstStyle/>
          <a:p>
            <a:pPr algn="ctr"/>
            <a:r>
              <a:rPr lang="en-US" sz="3200" b="1" dirty="0">
                <a:solidFill>
                  <a:srgbClr val="0070C0"/>
                </a:solidFill>
              </a:rPr>
              <a:t>Agile METHODOLOGY</a:t>
            </a:r>
            <a:endParaRPr lang="en-US" sz="3200" b="1" dirty="0">
              <a:solidFill>
                <a:srgbClr val="0070C0"/>
              </a:solidFill>
            </a:endParaRPr>
          </a:p>
        </p:txBody>
      </p:sp>
      <p:sp>
        <p:nvSpPr>
          <p:cNvPr id="3" name="Content Placeholder 2"/>
          <p:cNvSpPr>
            <a:spLocks noGrp="1"/>
          </p:cNvSpPr>
          <p:nvPr>
            <p:ph idx="1"/>
          </p:nvPr>
        </p:nvSpPr>
        <p:spPr>
          <a:xfrm>
            <a:off x="1038225" y="1489710"/>
            <a:ext cx="10008870" cy="4984750"/>
          </a:xfrm>
        </p:spPr>
        <p:txBody>
          <a:bodyPr>
            <a:noAutofit/>
          </a:bodyPr>
          <a:lstStyle/>
          <a:p>
            <a:r>
              <a:rPr lang="en-US" altLang="en-US" dirty="0">
                <a:solidFill>
                  <a:schemeClr val="bg1"/>
                </a:solidFill>
              </a:rPr>
              <a:t>● Sprint 2: Exploratory Data Analysis and Initial Forecast </a:t>
            </a:r>
            <a:endParaRPr lang="en-US" altLang="en-US" dirty="0">
              <a:solidFill>
                <a:schemeClr val="bg1"/>
              </a:solidFill>
            </a:endParaRPr>
          </a:p>
          <a:p>
            <a:r>
              <a:rPr lang="en-US" altLang="en-US" dirty="0">
                <a:solidFill>
                  <a:schemeClr val="bg1"/>
                </a:solidFill>
              </a:rPr>
              <a:t>○ Analyze customer buying patterns, weather impact, and promotional </a:t>
            </a:r>
            <a:endParaRPr lang="en-US" altLang="en-US" dirty="0">
              <a:solidFill>
                <a:schemeClr val="bg1"/>
              </a:solidFill>
            </a:endParaRPr>
          </a:p>
          <a:p>
            <a:r>
              <a:rPr lang="en-US" altLang="en-US" dirty="0">
                <a:solidFill>
                  <a:schemeClr val="bg1"/>
                </a:solidFill>
              </a:rPr>
              <a:t>effectiveness using various data techniques. </a:t>
            </a:r>
            <a:endParaRPr lang="en-US" altLang="en-US" dirty="0">
              <a:solidFill>
                <a:schemeClr val="bg1"/>
              </a:solidFill>
            </a:endParaRPr>
          </a:p>
          <a:p>
            <a:r>
              <a:rPr lang="en-US" altLang="en-US" dirty="0">
                <a:solidFill>
                  <a:schemeClr val="bg1"/>
                </a:solidFill>
              </a:rPr>
              <a:t>○ Present preliminary insights in a sprint review to gather feedback from </a:t>
            </a:r>
            <a:endParaRPr lang="en-US" altLang="en-US" dirty="0">
              <a:solidFill>
                <a:schemeClr val="bg1"/>
              </a:solidFill>
            </a:endParaRPr>
          </a:p>
          <a:p>
            <a:r>
              <a:rPr lang="en-US" altLang="en-US" dirty="0">
                <a:solidFill>
                  <a:schemeClr val="bg1"/>
                </a:solidFill>
              </a:rPr>
              <a:t>stakeholders. </a:t>
            </a:r>
            <a:endParaRPr lang="en-US" altLang="en-US" dirty="0">
              <a:solidFill>
                <a:schemeClr val="bg1"/>
              </a:solidFill>
            </a:endParaRPr>
          </a:p>
          <a:p>
            <a:endParaRPr lang="en-US" altLang="en-US" dirty="0">
              <a:solidFill>
                <a:schemeClr val="bg1"/>
              </a:solidFill>
            </a:endParaRPr>
          </a:p>
          <a:p>
            <a:r>
              <a:rPr lang="en-US" altLang="en-US" dirty="0">
                <a:solidFill>
                  <a:schemeClr val="bg1"/>
                </a:solidFill>
              </a:rPr>
              <a:t>● Sprint 3: Refining Insights and Developing Forecasts </a:t>
            </a:r>
            <a:endParaRPr lang="en-US" altLang="en-US" dirty="0">
              <a:solidFill>
                <a:schemeClr val="bg1"/>
              </a:solidFill>
            </a:endParaRPr>
          </a:p>
          <a:p>
            <a:r>
              <a:rPr lang="en-US" altLang="en-US" dirty="0">
                <a:solidFill>
                  <a:schemeClr val="bg1"/>
                </a:solidFill>
              </a:rPr>
              <a:t>○ Build a detailed analysis report with advanced forecasting models. </a:t>
            </a:r>
            <a:endParaRPr lang="en-US" altLang="en-US" dirty="0">
              <a:solidFill>
                <a:schemeClr val="bg1"/>
              </a:solidFill>
            </a:endParaRPr>
          </a:p>
          <a:p>
            <a:r>
              <a:rPr lang="en-US" altLang="en-US" dirty="0">
                <a:solidFill>
                  <a:schemeClr val="bg1"/>
                </a:solidFill>
              </a:rPr>
              <a:t>○ Focus on optimizing inventory levels based on projected demand patterns. </a:t>
            </a:r>
            <a:endParaRPr lang="en-US" altLang="en-US" dirty="0">
              <a:solidFill>
                <a:schemeClr val="bg1"/>
              </a:solidFill>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57474" y="101400"/>
            <a:ext cx="2918402" cy="6554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394690"/>
            <a:ext cx="9905998" cy="702397"/>
          </a:xfrm>
        </p:spPr>
        <p:txBody>
          <a:bodyPr>
            <a:normAutofit/>
          </a:bodyPr>
          <a:lstStyle/>
          <a:p>
            <a:pPr algn="ctr"/>
            <a:r>
              <a:rPr lang="en-US" sz="2800" b="1" dirty="0">
                <a:solidFill>
                  <a:srgbClr val="0070C0"/>
                </a:solidFill>
              </a:rPr>
              <a:t>Agile METHODOLOGY</a:t>
            </a:r>
            <a:endParaRPr lang="en-US" sz="2800" b="1" dirty="0">
              <a:solidFill>
                <a:srgbClr val="0070C0"/>
              </a:solidFill>
            </a:endParaRPr>
          </a:p>
        </p:txBody>
      </p:sp>
      <p:sp>
        <p:nvSpPr>
          <p:cNvPr id="3" name="Content Placeholder 2"/>
          <p:cNvSpPr>
            <a:spLocks noGrp="1"/>
          </p:cNvSpPr>
          <p:nvPr>
            <p:ph idx="1"/>
          </p:nvPr>
        </p:nvSpPr>
        <p:spPr/>
        <p:txBody>
          <a:bodyPr/>
          <a:lstStyle/>
          <a:p>
            <a:r>
              <a:rPr lang="en-US" altLang="en-US" dirty="0"/>
              <a:t> </a:t>
            </a:r>
            <a:r>
              <a:rPr lang="en-US" altLang="en-US" dirty="0">
                <a:solidFill>
                  <a:schemeClr val="bg1"/>
                </a:solidFill>
              </a:rPr>
              <a:t>Sprint 4: Insights Presentation and Actionable Recommendations </a:t>
            </a:r>
            <a:endParaRPr lang="en-US" altLang="en-US" dirty="0">
              <a:solidFill>
                <a:schemeClr val="bg1"/>
              </a:solidFill>
            </a:endParaRPr>
          </a:p>
          <a:p>
            <a:r>
              <a:rPr lang="en-US" altLang="en-US" dirty="0">
                <a:solidFill>
                  <a:schemeClr val="bg1"/>
                </a:solidFill>
              </a:rPr>
              <a:t>○ Present the final analysis and recommendations to key stakeholders in a </a:t>
            </a:r>
            <a:endParaRPr lang="en-US" altLang="en-US" dirty="0">
              <a:solidFill>
                <a:schemeClr val="bg1"/>
              </a:solidFill>
            </a:endParaRPr>
          </a:p>
          <a:p>
            <a:r>
              <a:rPr lang="en-US" altLang="en-US" dirty="0">
                <a:solidFill>
                  <a:schemeClr val="bg1"/>
                </a:solidFill>
              </a:rPr>
              <a:t>sprint review meeting. </a:t>
            </a:r>
            <a:endParaRPr lang="en-US" altLang="en-US" dirty="0">
              <a:solidFill>
                <a:schemeClr val="bg1"/>
              </a:solidFill>
            </a:endParaRPr>
          </a:p>
          <a:p>
            <a:r>
              <a:rPr lang="en-US" altLang="en-US" dirty="0">
                <a:solidFill>
                  <a:schemeClr val="bg1"/>
                </a:solidFill>
              </a:rPr>
              <a:t>○ Document all findings, ensuring alignment with business goals and real-time decision-making processes.</a:t>
            </a:r>
            <a:endParaRPr lang="en-US" altLang="en-US" dirty="0">
              <a:solidFill>
                <a:schemeClr val="bg1"/>
              </a:solidFill>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00456" y="323072"/>
            <a:ext cx="2918402" cy="6554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730" y="978535"/>
            <a:ext cx="9906000" cy="401955"/>
          </a:xfrm>
        </p:spPr>
        <p:txBody>
          <a:bodyPr>
            <a:normAutofit fontScale="90000"/>
          </a:bodyPr>
          <a:lstStyle/>
          <a:p>
            <a:pPr algn="ctr"/>
            <a:r>
              <a:rPr lang="en-US" altLang="en-IN" sz="3110" b="1" dirty="0">
                <a:solidFill>
                  <a:srgbClr val="0070C0"/>
                </a:solidFill>
                <a:sym typeface="+mn-ea"/>
              </a:rPr>
              <a:t>Goals and KPI’s</a:t>
            </a:r>
            <a:br>
              <a:rPr lang="en-US" altLang="en-IN" sz="3110" dirty="0"/>
            </a:br>
            <a:endParaRPr lang="en-IN" sz="3110" dirty="0"/>
          </a:p>
        </p:txBody>
      </p:sp>
      <p:sp>
        <p:nvSpPr>
          <p:cNvPr id="3" name="Content Placeholder 2"/>
          <p:cNvSpPr>
            <a:spLocks noGrp="1"/>
          </p:cNvSpPr>
          <p:nvPr>
            <p:ph idx="1"/>
          </p:nvPr>
        </p:nvSpPr>
        <p:spPr>
          <a:xfrm>
            <a:off x="1247140" y="1286510"/>
            <a:ext cx="9800590" cy="5490210"/>
          </a:xfrm>
        </p:spPr>
        <p:txBody>
          <a:bodyPr>
            <a:noAutofit/>
          </a:bodyPr>
          <a:lstStyle/>
          <a:p>
            <a:pPr marL="1143000" lvl="2" indent="-228600">
              <a:lnSpc>
                <a:spcPct val="107000"/>
              </a:lnSpc>
              <a:spcAft>
                <a:spcPts val="800"/>
              </a:spcAft>
              <a:buFont typeface="Times New Roman" panose="02020603050405020304" pitchFamily="18" charset="0"/>
              <a:buAutoNum type="arabicPeriod"/>
            </a:pPr>
            <a:r>
              <a:rPr lang="en-US" sz="2400" kern="100" dirty="0">
                <a:solidFill>
                  <a:schemeClr val="bg1"/>
                </a:solidFill>
                <a:effectLst/>
                <a:ea typeface="Calibri" panose="020F0502020204030204" pitchFamily="34" charset="0"/>
                <a:cs typeface="+mn-lt"/>
              </a:rPr>
              <a:t> Walmart using a data-driven inventory optimization solution that minimizes both stockouts and overstocking by forecasting demand based on past sales data.</a:t>
            </a:r>
            <a:endParaRPr lang="en-US" sz="2400" kern="100" dirty="0">
              <a:solidFill>
                <a:schemeClr val="bg1"/>
              </a:solidFill>
              <a:effectLst/>
              <a:ea typeface="Calibri" panose="020F0502020204030204" pitchFamily="34" charset="0"/>
              <a:cs typeface="+mn-lt"/>
            </a:endParaRPr>
          </a:p>
          <a:p>
            <a:pPr marL="1143000" lvl="2" indent="-228600">
              <a:lnSpc>
                <a:spcPct val="107000"/>
              </a:lnSpc>
              <a:spcAft>
                <a:spcPts val="800"/>
              </a:spcAft>
              <a:buFont typeface="Times New Roman" panose="02020603050405020304" pitchFamily="18" charset="0"/>
              <a:buAutoNum type="arabicPeriod"/>
            </a:pPr>
            <a:r>
              <a:rPr lang="en-US" sz="2400" kern="0" dirty="0">
                <a:solidFill>
                  <a:schemeClr val="bg1"/>
                </a:solidFill>
                <a:effectLst/>
                <a:ea typeface="Times New Roman" panose="02020603050405020304" pitchFamily="18" charset="0"/>
                <a:cs typeface="+mn-lt"/>
              </a:rPr>
              <a:t>  For maximizing both revenue and customer satisfaction, Walmart </a:t>
            </a:r>
            <a:endParaRPr lang="en-US" sz="2400" kern="100" dirty="0">
              <a:solidFill>
                <a:schemeClr val="bg1"/>
              </a:solidFill>
              <a:effectLst/>
              <a:cs typeface="+mn-lt"/>
            </a:endParaRPr>
          </a:p>
          <a:p>
            <a:pPr marL="1371600">
              <a:lnSpc>
                <a:spcPct val="107000"/>
              </a:lnSpc>
              <a:spcAft>
                <a:spcPts val="800"/>
              </a:spcAft>
            </a:pPr>
            <a:r>
              <a:rPr lang="en-US" kern="0" dirty="0">
                <a:solidFill>
                  <a:schemeClr val="bg1"/>
                </a:solidFill>
                <a:effectLst/>
                <a:ea typeface="Times New Roman" panose="02020603050405020304" pitchFamily="18" charset="0"/>
                <a:cs typeface="+mn-lt"/>
              </a:rPr>
              <a:t>Focus on profitability strategies for low-margin products, </a:t>
            </a:r>
            <a:r>
              <a:rPr lang="en-US" kern="0" dirty="0" err="1">
                <a:solidFill>
                  <a:schemeClr val="bg1"/>
                </a:solidFill>
                <a:effectLst/>
                <a:ea typeface="Times New Roman" panose="02020603050405020304" pitchFamily="18" charset="0"/>
                <a:cs typeface="+mn-lt"/>
              </a:rPr>
              <a:t>redictive</a:t>
            </a:r>
            <a:r>
              <a:rPr lang="en-US" kern="0" dirty="0">
                <a:solidFill>
                  <a:schemeClr val="bg1"/>
                </a:solidFill>
                <a:effectLst/>
                <a:ea typeface="Times New Roman" panose="02020603050405020304" pitchFamily="18" charset="0"/>
                <a:cs typeface="+mn-lt"/>
              </a:rPr>
              <a:t> modelling for future promotions, store-level customization of inventory, and data-driven strategies for future promotions.</a:t>
            </a:r>
            <a:endParaRPr lang="en-US" kern="100" dirty="0">
              <a:solidFill>
                <a:schemeClr val="bg1"/>
              </a:solidFill>
              <a:effectLst/>
              <a:cs typeface="+mn-lt"/>
            </a:endParaRPr>
          </a:p>
          <a:p>
            <a:pPr marL="1257300" lvl="2" indent="-342900">
              <a:lnSpc>
                <a:spcPct val="107000"/>
              </a:lnSpc>
              <a:spcAft>
                <a:spcPts val="800"/>
              </a:spcAft>
              <a:buFont typeface="Times New Roman" panose="02020603050405020304" pitchFamily="18" charset="0"/>
              <a:buAutoNum type="arabicPeriod" startAt="3"/>
            </a:pPr>
            <a:r>
              <a:rPr lang="en-US" sz="2400" kern="100" dirty="0">
                <a:solidFill>
                  <a:schemeClr val="bg1"/>
                </a:solidFill>
                <a:effectLst/>
                <a:ea typeface="Calibri" panose="020F0502020204030204" pitchFamily="34" charset="0"/>
                <a:cs typeface="+mn-lt"/>
              </a:rPr>
              <a:t>Allow Walmart to optimize inventory for new stores.</a:t>
            </a:r>
            <a:endParaRPr lang="en-US" sz="2400" kern="100" dirty="0">
              <a:solidFill>
                <a:schemeClr val="bg1"/>
              </a:solidFill>
              <a:effectLst/>
              <a:cs typeface="+mn-lt"/>
            </a:endParaRPr>
          </a:p>
          <a:p>
            <a:pPr marL="1257300" lvl="2" indent="-342900">
              <a:lnSpc>
                <a:spcPct val="107000"/>
              </a:lnSpc>
              <a:spcAft>
                <a:spcPts val="800"/>
              </a:spcAft>
              <a:buFont typeface="Times New Roman" panose="02020603050405020304" pitchFamily="18" charset="0"/>
              <a:buAutoNum type="arabicPeriod" startAt="3"/>
            </a:pPr>
            <a:r>
              <a:rPr lang="en-US" sz="2400" kern="100" dirty="0">
                <a:solidFill>
                  <a:schemeClr val="bg1"/>
                </a:solidFill>
                <a:effectLst/>
                <a:ea typeface="Calibri" panose="020F0502020204030204" pitchFamily="34" charset="0"/>
                <a:cs typeface="+mn-lt"/>
              </a:rPr>
              <a:t>handle seasonal demand fluctuations </a:t>
            </a:r>
            <a:endParaRPr lang="en-US" sz="2400" kern="100" dirty="0">
              <a:solidFill>
                <a:schemeClr val="bg1"/>
              </a:solidFill>
              <a:effectLst/>
              <a:cs typeface="+mn-lt"/>
            </a:endParaRPr>
          </a:p>
          <a:p>
            <a:pPr marL="1257300" lvl="2" indent="-342900">
              <a:lnSpc>
                <a:spcPct val="107000"/>
              </a:lnSpc>
              <a:spcAft>
                <a:spcPts val="800"/>
              </a:spcAft>
              <a:buFont typeface="Times New Roman" panose="02020603050405020304" pitchFamily="18" charset="0"/>
              <a:buAutoNum type="arabicPeriod" startAt="3"/>
            </a:pPr>
            <a:r>
              <a:rPr lang="en-US" sz="2400" kern="100" dirty="0">
                <a:solidFill>
                  <a:schemeClr val="bg1"/>
                </a:solidFill>
                <a:effectLst/>
                <a:ea typeface="Calibri" panose="020F0502020204030204" pitchFamily="34" charset="0"/>
                <a:cs typeface="+mn-lt"/>
              </a:rPr>
              <a:t>prioritize high-demand products for peak seasons </a:t>
            </a:r>
            <a:endParaRPr lang="en-US" sz="2400" kern="100" dirty="0">
              <a:solidFill>
                <a:schemeClr val="bg1"/>
              </a:solidFill>
              <a:effectLst/>
              <a:cs typeface="+mn-lt"/>
            </a:endParaRPr>
          </a:p>
          <a:p>
            <a:pPr marL="1257300" lvl="2" indent="-342900">
              <a:lnSpc>
                <a:spcPct val="107000"/>
              </a:lnSpc>
              <a:spcAft>
                <a:spcPts val="800"/>
              </a:spcAft>
              <a:buFont typeface="Times New Roman" panose="02020603050405020304" pitchFamily="18" charset="0"/>
              <a:buAutoNum type="arabicPeriod" startAt="3"/>
            </a:pPr>
            <a:r>
              <a:rPr lang="en-US" sz="2400" kern="100" dirty="0">
                <a:solidFill>
                  <a:schemeClr val="bg1"/>
                </a:solidFill>
                <a:effectLst/>
                <a:ea typeface="Calibri" panose="020F0502020204030204" pitchFamily="34" charset="0"/>
                <a:cs typeface="+mn-lt"/>
              </a:rPr>
              <a:t>ensuring stock availability at the right times.</a:t>
            </a:r>
            <a:endParaRPr lang="en-US" sz="2400" kern="100" dirty="0">
              <a:solidFill>
                <a:schemeClr val="bg1"/>
              </a:solidFill>
              <a:effectLst/>
              <a:cs typeface="+mn-lt"/>
            </a:endParaRPr>
          </a:p>
          <a:p>
            <a:endParaRPr lang="en-US" sz="2400" kern="100" dirty="0">
              <a:solidFill>
                <a:schemeClr val="bg1"/>
              </a:solidFill>
              <a:effectLst/>
              <a:cs typeface="+mn-lt"/>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00456" y="-143"/>
            <a:ext cx="2918402" cy="6554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66937"/>
          </a:xfrm>
        </p:spPr>
        <p:txBody>
          <a:bodyPr>
            <a:normAutofit/>
          </a:bodyPr>
          <a:lstStyle/>
          <a:p>
            <a:r>
              <a:rPr lang="en-US" sz="2400" b="1" dirty="0">
                <a:solidFill>
                  <a:srgbClr val="0070C0"/>
                </a:solidFill>
              </a:rPr>
              <a:t>KPI’S (Key PERFORMANCE INDICATORS)</a:t>
            </a:r>
            <a:endParaRPr lang="en-IN" sz="2400" b="1" dirty="0">
              <a:solidFill>
                <a:srgbClr val="0070C0"/>
              </a:solidFill>
            </a:endParaRPr>
          </a:p>
        </p:txBody>
      </p:sp>
      <p:sp>
        <p:nvSpPr>
          <p:cNvPr id="3" name="Content Placeholder 2"/>
          <p:cNvSpPr>
            <a:spLocks noGrp="1"/>
          </p:cNvSpPr>
          <p:nvPr>
            <p:ph idx="1"/>
          </p:nvPr>
        </p:nvSpPr>
        <p:spPr>
          <a:xfrm>
            <a:off x="1141412" y="1385455"/>
            <a:ext cx="9905999" cy="5043054"/>
          </a:xfrm>
        </p:spPr>
        <p:txBody>
          <a:bodyPr/>
          <a:lstStyle/>
          <a:p>
            <a:r>
              <a:rPr lang="en-US" kern="100" dirty="0">
                <a:solidFill>
                  <a:schemeClr val="bg1"/>
                </a:solidFill>
                <a:effectLst/>
                <a:ea typeface="Calibri" panose="020F0502020204030204" pitchFamily="34" charset="0"/>
                <a:cs typeface="+mn-lt"/>
              </a:rPr>
              <a:t>The total sales volume across all Walmart stores:</a:t>
            </a:r>
            <a:r>
              <a:rPr lang="en-US" b="1" kern="100" dirty="0">
                <a:solidFill>
                  <a:schemeClr val="bg1"/>
                </a:solidFill>
                <a:effectLst/>
                <a:ea typeface="Calibri" panose="020F0502020204030204" pitchFamily="34" charset="0"/>
                <a:cs typeface="+mn-lt"/>
              </a:rPr>
              <a:t>14914.</a:t>
            </a:r>
            <a:endParaRPr lang="en-US" b="1" kern="100" dirty="0">
              <a:solidFill>
                <a:schemeClr val="bg1"/>
              </a:solidFill>
              <a:effectLst/>
              <a:ea typeface="Calibri" panose="020F0502020204030204" pitchFamily="34" charset="0"/>
              <a:cs typeface="+mn-lt"/>
            </a:endParaRPr>
          </a:p>
          <a:p>
            <a:r>
              <a:rPr lang="en-US" kern="100" dirty="0">
                <a:solidFill>
                  <a:schemeClr val="bg1"/>
                </a:solidFill>
                <a:effectLst/>
                <a:ea typeface="Calibri" panose="020F0502020204030204" pitchFamily="34" charset="0"/>
                <a:cs typeface="+mn-lt"/>
              </a:rPr>
              <a:t>The average unit price of all products sold, by category</a:t>
            </a:r>
            <a:endParaRPr lang="en-US" kern="100" dirty="0">
              <a:solidFill>
                <a:schemeClr val="bg1"/>
              </a:solidFill>
              <a:effectLst/>
              <a:cs typeface="+mn-lt"/>
            </a:endParaRPr>
          </a:p>
          <a:p>
            <a:endParaRPr lang="en-US" sz="1800" b="1" kern="100" dirty="0">
              <a:solidFill>
                <a:schemeClr val="accent2"/>
              </a:solidFill>
              <a:effectLst/>
              <a:latin typeface="Calibri" panose="020F0502020204030204" pitchFamily="34" charset="0"/>
              <a:cs typeface="Times New Roman" panose="02020603050405020304" pitchFamily="18" charset="0"/>
            </a:endParaRPr>
          </a:p>
          <a:p>
            <a:pPr marL="0" indent="0">
              <a:buNone/>
            </a:pPr>
            <a:endParaRPr lang="en-IN" dirty="0"/>
          </a:p>
          <a:p>
            <a:r>
              <a:rPr lang="en-US" kern="0" dirty="0">
                <a:solidFill>
                  <a:schemeClr val="bg1"/>
                </a:solidFill>
                <a:effectLst/>
                <a:ea typeface="Times New Roman" panose="02020603050405020304" pitchFamily="18" charset="0"/>
                <a:cs typeface="+mn-lt"/>
              </a:rPr>
              <a:t>Stores which is underperforming in terms of sales volume is: Miami</a:t>
            </a:r>
            <a:r>
              <a:rPr lang="en-US" b="1" kern="0" dirty="0">
                <a:solidFill>
                  <a:schemeClr val="bg1"/>
                </a:solidFill>
                <a:effectLst/>
                <a:ea typeface="Times New Roman" panose="02020603050405020304" pitchFamily="18" charset="0"/>
                <a:cs typeface="+mn-lt"/>
              </a:rPr>
              <a:t> </a:t>
            </a:r>
            <a:r>
              <a:rPr lang="en-US" kern="0" dirty="0">
                <a:solidFill>
                  <a:schemeClr val="bg1"/>
                </a:solidFill>
                <a:effectLst/>
                <a:ea typeface="Times New Roman" panose="02020603050405020304" pitchFamily="18" charset="0"/>
                <a:cs typeface="+mn-lt"/>
              </a:rPr>
              <a:t>, FL.</a:t>
            </a:r>
            <a:endParaRPr lang="en-US" kern="0" dirty="0">
              <a:solidFill>
                <a:schemeClr val="bg1"/>
              </a:solidFill>
              <a:effectLst/>
              <a:ea typeface="Times New Roman" panose="02020603050405020304" pitchFamily="18" charset="0"/>
              <a:cs typeface="+mn-lt"/>
            </a:endParaRPr>
          </a:p>
          <a:p>
            <a:pPr marL="0" indent="0">
              <a:buNone/>
            </a:pPr>
            <a:endParaRPr lang="en-US" sz="1800" kern="100" dirty="0">
              <a:solidFill>
                <a:schemeClr val="tx1">
                  <a:lumMod val="95000"/>
                </a:schemeClr>
              </a:solidFill>
              <a:effectLst/>
              <a:latin typeface="Calibri" panose="020F0502020204030204" pitchFamily="34" charset="0"/>
              <a:cs typeface="Times New Roman" panose="02020603050405020304" pitchFamily="18" charset="0"/>
            </a:endParaRPr>
          </a:p>
          <a:p>
            <a:pPr marL="0" indent="0">
              <a:buNone/>
            </a:pPr>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00456" y="0"/>
            <a:ext cx="2918402" cy="618518"/>
          </a:xfrm>
          <a:prstGeom prst="rect">
            <a:avLst/>
          </a:prstGeom>
        </p:spPr>
      </p:pic>
      <p:graphicFrame>
        <p:nvGraphicFramePr>
          <p:cNvPr id="11" name="Table 10"/>
          <p:cNvGraphicFramePr>
            <a:graphicFrameLocks noGrp="1"/>
          </p:cNvGraphicFramePr>
          <p:nvPr>
            <p:custDataLst>
              <p:tags r:id="rId2"/>
            </p:custDataLst>
          </p:nvPr>
        </p:nvGraphicFramePr>
        <p:xfrm>
          <a:off x="1477645" y="2583180"/>
          <a:ext cx="6850380" cy="786130"/>
        </p:xfrm>
        <a:graphic>
          <a:graphicData uri="http://schemas.openxmlformats.org/drawingml/2006/table">
            <a:tbl>
              <a:tblPr>
                <a:tableStyleId>{5C22544A-7EE6-4342-B048-85BDC9FD1C3A}</a:tableStyleId>
              </a:tblPr>
              <a:tblGrid>
                <a:gridCol w="2455545"/>
                <a:gridCol w="4394835"/>
              </a:tblGrid>
              <a:tr h="179705">
                <a:tc>
                  <a:txBody>
                    <a:bodyPr/>
                    <a:lstStyle/>
                    <a:p>
                      <a:pPr algn="l" fontAlgn="b"/>
                      <a:r>
                        <a:rPr lang="en-IN" sz="1000" b="1" u="none" strike="noStrike" dirty="0">
                          <a:solidFill>
                            <a:schemeClr val="accent2"/>
                          </a:solidFill>
                          <a:effectLst/>
                        </a:rPr>
                        <a:t>category</a:t>
                      </a:r>
                      <a:endParaRPr lang="en-IN" sz="1000" b="1" i="0" u="none" strike="noStrike" dirty="0">
                        <a:solidFill>
                          <a:schemeClr val="accent2"/>
                        </a:solidFill>
                        <a:effectLst/>
                        <a:latin typeface="Calibri" panose="020F0502020204030204" pitchFamily="34" charset="0"/>
                      </a:endParaRPr>
                    </a:p>
                  </a:txBody>
                  <a:tcPr marL="9220" marR="9220" marT="6927" marB="0" anchor="b">
                    <a:solidFill>
                      <a:srgbClr val="0070C0"/>
                    </a:solidFill>
                  </a:tcPr>
                </a:tc>
                <a:tc>
                  <a:txBody>
                    <a:bodyPr/>
                    <a:lstStyle/>
                    <a:p>
                      <a:pPr algn="l" fontAlgn="b"/>
                      <a:r>
                        <a:rPr lang="en-IN" sz="1000" b="1" u="none" strike="noStrike">
                          <a:solidFill>
                            <a:schemeClr val="accent2"/>
                          </a:solidFill>
                          <a:effectLst/>
                        </a:rPr>
                        <a:t>Average of unit_price</a:t>
                      </a:r>
                      <a:endParaRPr lang="en-IN" sz="1000" b="1" i="0" u="none" strike="noStrike">
                        <a:solidFill>
                          <a:schemeClr val="accent2"/>
                        </a:solidFill>
                        <a:effectLst/>
                        <a:latin typeface="Calibri" panose="020F0502020204030204" pitchFamily="34" charset="0"/>
                      </a:endParaRPr>
                    </a:p>
                  </a:txBody>
                  <a:tcPr marL="9220" marR="9220" marT="6927" marB="0" anchor="b">
                    <a:solidFill>
                      <a:srgbClr val="0070C0"/>
                    </a:solidFill>
                  </a:tcPr>
                </a:tc>
              </a:tr>
              <a:tr h="280035">
                <a:tc>
                  <a:txBody>
                    <a:bodyPr/>
                    <a:lstStyle/>
                    <a:p>
                      <a:pPr algn="l" fontAlgn="b"/>
                      <a:r>
                        <a:rPr lang="en-IN" sz="1500" b="1" u="none" strike="noStrike" dirty="0">
                          <a:solidFill>
                            <a:schemeClr val="accent2"/>
                          </a:solidFill>
                          <a:effectLst/>
                        </a:rPr>
                        <a:t>Appliances</a:t>
                      </a:r>
                      <a:endParaRPr lang="en-IN" sz="1500" b="1" i="0" u="none" strike="noStrike" dirty="0">
                        <a:solidFill>
                          <a:schemeClr val="accent2"/>
                        </a:solidFill>
                        <a:effectLst/>
                        <a:latin typeface="Calibri" panose="020F0502020204030204" pitchFamily="34" charset="0"/>
                      </a:endParaRPr>
                    </a:p>
                  </a:txBody>
                  <a:tcPr marL="9220" marR="9220" marT="6927" marB="0" anchor="b">
                    <a:solidFill>
                      <a:srgbClr val="0070C0"/>
                    </a:solidFill>
                  </a:tcPr>
                </a:tc>
                <a:tc>
                  <a:txBody>
                    <a:bodyPr/>
                    <a:lstStyle/>
                    <a:p>
                      <a:pPr algn="r" fontAlgn="b"/>
                      <a:r>
                        <a:rPr lang="en-IN" sz="1000" b="1" u="none" strike="noStrike" dirty="0">
                          <a:solidFill>
                            <a:schemeClr val="accent2"/>
                          </a:solidFill>
                          <a:effectLst/>
                        </a:rPr>
                        <a:t>1023.381503</a:t>
                      </a:r>
                      <a:endParaRPr lang="en-IN" sz="1000" b="1" i="0" u="none" strike="noStrike" dirty="0">
                        <a:solidFill>
                          <a:schemeClr val="accent2"/>
                        </a:solidFill>
                        <a:effectLst/>
                        <a:latin typeface="Calibri" panose="020F0502020204030204" pitchFamily="34" charset="0"/>
                      </a:endParaRPr>
                    </a:p>
                  </a:txBody>
                  <a:tcPr marL="9220" marR="9220" marT="6927" marB="0" anchor="b">
                    <a:solidFill>
                      <a:srgbClr val="0070C0"/>
                    </a:solidFill>
                  </a:tcPr>
                </a:tc>
              </a:tr>
              <a:tr h="163195">
                <a:tc>
                  <a:txBody>
                    <a:bodyPr/>
                    <a:lstStyle/>
                    <a:p>
                      <a:pPr algn="l" fontAlgn="b"/>
                      <a:r>
                        <a:rPr lang="en-IN" sz="1000" b="1" u="none" strike="noStrike">
                          <a:solidFill>
                            <a:schemeClr val="accent2"/>
                          </a:solidFill>
                          <a:effectLst/>
                        </a:rPr>
                        <a:t>Electronics</a:t>
                      </a:r>
                      <a:endParaRPr lang="en-IN" sz="1000" b="1" i="0" u="none" strike="noStrike">
                        <a:solidFill>
                          <a:schemeClr val="accent2"/>
                        </a:solidFill>
                        <a:effectLst/>
                        <a:latin typeface="Calibri" panose="020F0502020204030204" pitchFamily="34" charset="0"/>
                      </a:endParaRPr>
                    </a:p>
                  </a:txBody>
                  <a:tcPr marL="9220" marR="9220" marT="6927" marB="0" anchor="b">
                    <a:solidFill>
                      <a:srgbClr val="0070C0"/>
                    </a:solidFill>
                  </a:tcPr>
                </a:tc>
                <a:tc>
                  <a:txBody>
                    <a:bodyPr/>
                    <a:lstStyle/>
                    <a:p>
                      <a:pPr algn="r" fontAlgn="b"/>
                      <a:r>
                        <a:rPr lang="en-IN" sz="1000" b="1" u="none" strike="noStrike" dirty="0">
                          <a:solidFill>
                            <a:schemeClr val="accent2"/>
                          </a:solidFill>
                          <a:effectLst/>
                        </a:rPr>
                        <a:t>1023.547443</a:t>
                      </a:r>
                      <a:endParaRPr lang="en-IN" sz="1000" b="1" i="0" u="none" strike="noStrike" dirty="0">
                        <a:solidFill>
                          <a:schemeClr val="accent2"/>
                        </a:solidFill>
                        <a:effectLst/>
                        <a:latin typeface="Calibri" panose="020F0502020204030204" pitchFamily="34" charset="0"/>
                      </a:endParaRPr>
                    </a:p>
                  </a:txBody>
                  <a:tcPr marL="9220" marR="9220" marT="6927" marB="0" anchor="b">
                    <a:solidFill>
                      <a:srgbClr val="0070C0"/>
                    </a:solidFill>
                  </a:tcPr>
                </a:tc>
              </a:tr>
              <a:tr h="163195">
                <a:tc>
                  <a:txBody>
                    <a:bodyPr/>
                    <a:lstStyle/>
                    <a:p>
                      <a:pPr algn="l" fontAlgn="b"/>
                      <a:r>
                        <a:rPr lang="en-IN" sz="1000" b="1" u="none" strike="noStrike">
                          <a:solidFill>
                            <a:schemeClr val="accent2"/>
                          </a:solidFill>
                          <a:effectLst/>
                        </a:rPr>
                        <a:t>Grand Total</a:t>
                      </a:r>
                      <a:endParaRPr lang="en-IN" sz="1000" b="1" i="0" u="none" strike="noStrike">
                        <a:solidFill>
                          <a:schemeClr val="accent2"/>
                        </a:solidFill>
                        <a:effectLst/>
                        <a:latin typeface="Calibri" panose="020F0502020204030204" pitchFamily="34" charset="0"/>
                      </a:endParaRPr>
                    </a:p>
                  </a:txBody>
                  <a:tcPr marL="9220" marR="9220" marT="6927" marB="0" anchor="b">
                    <a:solidFill>
                      <a:srgbClr val="0070C0"/>
                    </a:solidFill>
                  </a:tcPr>
                </a:tc>
                <a:tc>
                  <a:txBody>
                    <a:bodyPr/>
                    <a:lstStyle/>
                    <a:p>
                      <a:pPr algn="r" fontAlgn="b"/>
                      <a:r>
                        <a:rPr lang="en-IN" sz="1000" b="1" u="none" strike="noStrike" dirty="0">
                          <a:solidFill>
                            <a:schemeClr val="accent2"/>
                          </a:solidFill>
                          <a:effectLst/>
                        </a:rPr>
                        <a:t>1023.467294</a:t>
                      </a:r>
                      <a:endParaRPr lang="en-IN" sz="1000" b="1" i="0" u="none" strike="noStrike" dirty="0">
                        <a:solidFill>
                          <a:schemeClr val="accent2"/>
                        </a:solidFill>
                        <a:effectLst/>
                        <a:latin typeface="Calibri" panose="020F0502020204030204" pitchFamily="34" charset="0"/>
                      </a:endParaRPr>
                    </a:p>
                  </a:txBody>
                  <a:tcPr marL="9220" marR="9220" marT="6927" marB="0" anchor="b">
                    <a:solidFill>
                      <a:srgbClr val="0070C0"/>
                    </a:solidFill>
                  </a:tcPr>
                </a:tc>
              </a:tr>
            </a:tbl>
          </a:graphicData>
        </a:graphic>
      </p:graphicFrame>
      <p:graphicFrame>
        <p:nvGraphicFramePr>
          <p:cNvPr id="12" name="Table 11"/>
          <p:cNvGraphicFramePr>
            <a:graphicFrameLocks noGrp="1"/>
          </p:cNvGraphicFramePr>
          <p:nvPr>
            <p:custDataLst>
              <p:tags r:id="rId3"/>
            </p:custDataLst>
          </p:nvPr>
        </p:nvGraphicFramePr>
        <p:xfrm>
          <a:off x="1477645" y="4278630"/>
          <a:ext cx="7093585" cy="1693545"/>
        </p:xfrm>
        <a:graphic>
          <a:graphicData uri="http://schemas.openxmlformats.org/drawingml/2006/table">
            <a:tbl>
              <a:tblPr>
                <a:tableStyleId>{5C22544A-7EE6-4342-B048-85BDC9FD1C3A}</a:tableStyleId>
              </a:tblPr>
              <a:tblGrid>
                <a:gridCol w="2408555"/>
                <a:gridCol w="1562100"/>
                <a:gridCol w="3122930"/>
              </a:tblGrid>
              <a:tr h="241935">
                <a:tc>
                  <a:txBody>
                    <a:bodyPr/>
                    <a:lstStyle/>
                    <a:p>
                      <a:pPr algn="l" fontAlgn="b"/>
                      <a:r>
                        <a:rPr lang="en-IN" sz="1100" u="none" strike="noStrike" dirty="0" err="1">
                          <a:solidFill>
                            <a:schemeClr val="accent2"/>
                          </a:solidFill>
                          <a:effectLst/>
                        </a:rPr>
                        <a:t>store_location</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a:solidFill>
                            <a:schemeClr val="accent2"/>
                          </a:solidFill>
                          <a:effectLst/>
                        </a:rPr>
                        <a:t>store_id</a:t>
                      </a:r>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Sum of </a:t>
                      </a:r>
                      <a:r>
                        <a:rPr lang="en-IN" sz="1100" u="none" strike="noStrike" dirty="0" err="1">
                          <a:solidFill>
                            <a:schemeClr val="accent2"/>
                          </a:solidFill>
                          <a:effectLst/>
                        </a:rPr>
                        <a:t>quantity_sold</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r h="241935">
                <a:tc>
                  <a:txBody>
                    <a:bodyPr/>
                    <a:lstStyle/>
                    <a:p>
                      <a:pPr algn="l" fontAlgn="b"/>
                      <a:r>
                        <a:rPr lang="en-IN" sz="1100" u="none" strike="noStrike">
                          <a:solidFill>
                            <a:schemeClr val="accent2"/>
                          </a:solidFill>
                          <a:effectLst/>
                        </a:rPr>
                        <a:t>Miami, FL</a:t>
                      </a:r>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2834</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r h="241935">
                <a:tc>
                  <a:txBody>
                    <a:bodyPr/>
                    <a:lstStyle/>
                    <a:p>
                      <a:pPr algn="l" fontAlgn="b"/>
                      <a:r>
                        <a:rPr lang="en-IN" sz="1100" u="none" strike="noStrike">
                          <a:solidFill>
                            <a:schemeClr val="accent2"/>
                          </a:solidFill>
                          <a:effectLst/>
                        </a:rPr>
                        <a:t>Dallas, TX</a:t>
                      </a:r>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2892</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r h="241935">
                <a:tc>
                  <a:txBody>
                    <a:bodyPr/>
                    <a:lstStyle/>
                    <a:p>
                      <a:pPr algn="l" fontAlgn="b"/>
                      <a:r>
                        <a:rPr lang="en-IN" sz="1100" u="none" strike="noStrike">
                          <a:solidFill>
                            <a:schemeClr val="accent2"/>
                          </a:solidFill>
                          <a:effectLst/>
                        </a:rPr>
                        <a:t>New York, NY</a:t>
                      </a:r>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2935</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r h="241935">
                <a:tc>
                  <a:txBody>
                    <a:bodyPr/>
                    <a:lstStyle/>
                    <a:p>
                      <a:pPr algn="l" fontAlgn="b"/>
                      <a:r>
                        <a:rPr lang="en-IN" sz="1100" u="none" strike="noStrike" dirty="0">
                          <a:solidFill>
                            <a:schemeClr val="accent2"/>
                          </a:solidFill>
                          <a:effectLst/>
                        </a:rPr>
                        <a:t>Chicago, IL</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3085</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r h="241935">
                <a:tc>
                  <a:txBody>
                    <a:bodyPr/>
                    <a:lstStyle/>
                    <a:p>
                      <a:pPr algn="l" fontAlgn="b"/>
                      <a:r>
                        <a:rPr lang="en-IN" sz="1100" u="none" strike="noStrike" dirty="0">
                          <a:solidFill>
                            <a:schemeClr val="accent2"/>
                          </a:solidFill>
                          <a:effectLst/>
                        </a:rPr>
                        <a:t>Los Angeles, CA</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3168</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r h="241935">
                <a:tc>
                  <a:txBody>
                    <a:bodyPr/>
                    <a:lstStyle/>
                    <a:p>
                      <a:pPr algn="l" fontAlgn="b"/>
                      <a:r>
                        <a:rPr lang="en-IN" sz="1100" u="none" strike="noStrike" dirty="0">
                          <a:solidFill>
                            <a:schemeClr val="accent2"/>
                          </a:solidFill>
                          <a:effectLst/>
                        </a:rPr>
                        <a:t>Grand Total</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a:solidFill>
                          <a:schemeClr val="accent2"/>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solidFill>
                            <a:schemeClr val="accent2"/>
                          </a:solidFill>
                          <a:effectLst/>
                        </a:rPr>
                        <a:t>14914</a:t>
                      </a:r>
                      <a:endParaRPr lang="en-IN" sz="1100" b="1" i="0" u="none" strike="noStrike" dirty="0">
                        <a:solidFill>
                          <a:schemeClr val="accent2"/>
                        </a:solidFill>
                        <a:effectLst/>
                        <a:latin typeface="Calibri" panose="020F0502020204030204" pitchFamily="34" charset="0"/>
                      </a:endParaRPr>
                    </a:p>
                  </a:txBody>
                  <a:tcPr marL="7620" marR="7620" marT="7620" marB="0" anchor="b">
                    <a:solidFill>
                      <a:srgbClr val="0070C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348508"/>
            <a:ext cx="9905998" cy="748579"/>
          </a:xfrm>
        </p:spPr>
        <p:txBody>
          <a:bodyPr>
            <a:normAutofit/>
          </a:bodyPr>
          <a:lstStyle/>
          <a:p>
            <a:r>
              <a:rPr lang="en-US" sz="2400" b="1" dirty="0">
                <a:solidFill>
                  <a:srgbClr val="0070C0"/>
                </a:solidFill>
              </a:rPr>
              <a:t>KPI’S (Key PERFORMANCE INDICATORS)</a:t>
            </a:r>
            <a:endParaRPr lang="en-IN" sz="2400" b="1" dirty="0">
              <a:solidFill>
                <a:srgbClr val="0070C0"/>
              </a:solidFill>
            </a:endParaRPr>
          </a:p>
        </p:txBody>
      </p:sp>
      <p:sp>
        <p:nvSpPr>
          <p:cNvPr id="3" name="Content Placeholder 2"/>
          <p:cNvSpPr>
            <a:spLocks noGrp="1"/>
          </p:cNvSpPr>
          <p:nvPr>
            <p:ph idx="1"/>
          </p:nvPr>
        </p:nvSpPr>
        <p:spPr>
          <a:xfrm>
            <a:off x="1141412" y="2249487"/>
            <a:ext cx="10191606" cy="4391458"/>
          </a:xfrm>
        </p:spPr>
        <p:txBody>
          <a:bodyPr>
            <a:normAutofit/>
          </a:bodyPr>
          <a:lstStyle/>
          <a:p>
            <a:pPr marL="0" lvl="0" indent="0">
              <a:lnSpc>
                <a:spcPct val="107000"/>
              </a:lnSpc>
              <a:spcAft>
                <a:spcPts val="800"/>
              </a:spcAft>
              <a:buClr>
                <a:srgbClr val="4472C4"/>
              </a:buClr>
              <a:buNone/>
            </a:pPr>
            <a:r>
              <a:rPr lang="en-US" kern="0" dirty="0">
                <a:solidFill>
                  <a:schemeClr val="bg1"/>
                </a:solidFill>
                <a:effectLst/>
                <a:ea typeface="Times New Roman" panose="02020603050405020304" pitchFamily="18" charset="0"/>
                <a:cs typeface="+mn-lt"/>
              </a:rPr>
              <a:t>The total revenue generated from sales during promotional events</a:t>
            </a:r>
            <a:endParaRPr lang="en-US" kern="100" dirty="0">
              <a:solidFill>
                <a:schemeClr val="bg1"/>
              </a:solidFill>
              <a:effectLst/>
              <a:cs typeface="+mn-lt"/>
            </a:endParaRPr>
          </a:p>
          <a:p>
            <a:pPr marL="131445" indent="0">
              <a:lnSpc>
                <a:spcPct val="107000"/>
              </a:lnSpc>
              <a:spcAft>
                <a:spcPts val="800"/>
              </a:spcAft>
              <a:buNone/>
            </a:pPr>
            <a:r>
              <a:rPr lang="en-US" b="1" kern="0" dirty="0">
                <a:solidFill>
                  <a:schemeClr val="bg1"/>
                </a:solidFill>
                <a:cs typeface="+mn-lt"/>
              </a:rPr>
              <a:t>8062411.03</a:t>
            </a:r>
            <a:endParaRPr lang="en-US" b="1" kern="0" dirty="0">
              <a:solidFill>
                <a:schemeClr val="bg1"/>
              </a:solidFill>
              <a:cs typeface="+mn-lt"/>
            </a:endParaRPr>
          </a:p>
          <a:p>
            <a:pPr marL="131445" indent="0">
              <a:lnSpc>
                <a:spcPct val="107000"/>
              </a:lnSpc>
              <a:spcAft>
                <a:spcPts val="800"/>
              </a:spcAft>
              <a:buNone/>
            </a:pPr>
            <a:endParaRPr lang="en-US" sz="1800" b="1" kern="0" dirty="0">
              <a:solidFill>
                <a:srgbClr val="4472C4"/>
              </a:solidFill>
              <a:effectLst/>
              <a:latin typeface="Arial" panose="020B0604020202020204" pitchFamily="34" charset="0"/>
              <a:cs typeface="Times New Roman" panose="02020603050405020304" pitchFamily="18" charset="0"/>
            </a:endParaRPr>
          </a:p>
          <a:p>
            <a:pPr marL="131445" indent="0">
              <a:lnSpc>
                <a:spcPct val="107000"/>
              </a:lnSpc>
              <a:spcAft>
                <a:spcPts val="800"/>
              </a:spcAft>
              <a:buNone/>
            </a:pPr>
            <a:endParaRPr lang="en-US" sz="1800" b="1" kern="0" dirty="0">
              <a:solidFill>
                <a:srgbClr val="4472C4"/>
              </a:solidFill>
              <a:latin typeface="Arial" panose="020B0604020202020204" pitchFamily="34" charset="0"/>
              <a:cs typeface="Times New Roman" panose="02020603050405020304" pitchFamily="18" charset="0"/>
            </a:endParaRPr>
          </a:p>
          <a:p>
            <a:pPr marL="0" indent="0">
              <a:lnSpc>
                <a:spcPct val="107000"/>
              </a:lnSpc>
              <a:spcAft>
                <a:spcPts val="800"/>
              </a:spcAft>
              <a:buClr>
                <a:srgbClr val="4472C4"/>
              </a:buClr>
              <a:buNone/>
            </a:pPr>
            <a:r>
              <a:rPr lang="en-US" kern="0" dirty="0">
                <a:solidFill>
                  <a:schemeClr val="bg1"/>
                </a:solidFill>
                <a:effectLst/>
                <a:ea typeface="Times New Roman" panose="02020603050405020304" pitchFamily="18" charset="0"/>
                <a:cs typeface="+mn-lt"/>
              </a:rPr>
              <a:t>Product categories see the largest increase in demand during holidays</a:t>
            </a:r>
            <a:endParaRPr lang="en-US" kern="100" dirty="0">
              <a:solidFill>
                <a:schemeClr val="bg1"/>
              </a:solidFill>
              <a:effectLst/>
              <a:cs typeface="+mn-lt"/>
            </a:endParaRPr>
          </a:p>
          <a:p>
            <a:pPr marL="588645">
              <a:lnSpc>
                <a:spcPct val="107000"/>
              </a:lnSpc>
              <a:spcAft>
                <a:spcPts val="800"/>
              </a:spcAft>
            </a:pPr>
            <a:r>
              <a:rPr lang="en-US" b="1" kern="0" dirty="0">
                <a:solidFill>
                  <a:schemeClr val="bg1"/>
                </a:solidFill>
                <a:effectLst/>
                <a:ea typeface="Times New Roman" panose="02020603050405020304" pitchFamily="18" charset="0"/>
                <a:cs typeface="+mn-lt"/>
              </a:rPr>
              <a:t>Electronics</a:t>
            </a:r>
            <a:endParaRPr lang="en-US" kern="100" dirty="0">
              <a:solidFill>
                <a:schemeClr val="bg1"/>
              </a:solidFill>
              <a:effectLst/>
              <a:cs typeface="+mn-lt"/>
            </a:endParaRPr>
          </a:p>
          <a:p>
            <a:pPr>
              <a:lnSpc>
                <a:spcPct val="107000"/>
              </a:lnSpc>
              <a:spcAft>
                <a:spcPts val="800"/>
              </a:spcAft>
            </a:pPr>
            <a:r>
              <a:rPr lang="en-US" sz="1800" b="1" u="sng" kern="100" dirty="0">
                <a:solidFill>
                  <a:schemeClr val="tx1">
                    <a:lumMod val="95000"/>
                  </a:schemeClr>
                </a:solidFill>
                <a:effectLst/>
                <a:latin typeface="Arial" panose="020B0604020202020204" pitchFamily="34" charset="0"/>
                <a:ea typeface="Calibri" panose="020F0502020204030204" pitchFamily="34" charset="0"/>
                <a:cs typeface="Times New Roman" panose="02020603050405020304" pitchFamily="18" charset="0"/>
              </a:rPr>
              <a:t> </a:t>
            </a:r>
            <a:endParaRPr lang="en-US" sz="1800" kern="100" dirty="0">
              <a:solidFill>
                <a:schemeClr val="tx1">
                  <a:lumMod val="95000"/>
                </a:schemeClr>
              </a:solidFill>
              <a:effectLst/>
              <a:latin typeface="Calibri" panose="020F0502020204030204" pitchFamily="34" charset="0"/>
              <a:cs typeface="Times New Roman" panose="02020603050405020304" pitchFamily="18" charset="0"/>
            </a:endParaRPr>
          </a:p>
          <a:p>
            <a:pPr marL="131445" indent="0">
              <a:lnSpc>
                <a:spcPct val="107000"/>
              </a:lnSpc>
              <a:spcAft>
                <a:spcPts val="800"/>
              </a:spcAft>
              <a:buNone/>
            </a:pPr>
            <a:endParaRPr lang="en-US" sz="1800" kern="100" dirty="0">
              <a:effectLst/>
              <a:latin typeface="Calibri" panose="020F0502020204030204" pitchFamily="34" charset="0"/>
              <a:cs typeface="Times New Roman" panose="02020603050405020304" pitchFamily="18" charset="0"/>
            </a:endParaRPr>
          </a:p>
          <a:p>
            <a:endParaRPr lang="en-IN" dirty="0"/>
          </a:p>
        </p:txBody>
      </p:sp>
      <p:graphicFrame>
        <p:nvGraphicFramePr>
          <p:cNvPr id="4" name="Table 3"/>
          <p:cNvGraphicFramePr>
            <a:graphicFrameLocks noGrp="1"/>
          </p:cNvGraphicFramePr>
          <p:nvPr>
            <p:custDataLst>
              <p:tags r:id="rId1"/>
            </p:custDataLst>
          </p:nvPr>
        </p:nvGraphicFramePr>
        <p:xfrm>
          <a:off x="1247140" y="3300095"/>
          <a:ext cx="6040755" cy="1186180"/>
        </p:xfrm>
        <a:graphic>
          <a:graphicData uri="http://schemas.openxmlformats.org/drawingml/2006/table">
            <a:tbl>
              <a:tblPr>
                <a:tableStyleId>{5C22544A-7EE6-4342-B048-85BDC9FD1C3A}</a:tableStyleId>
              </a:tblPr>
              <a:tblGrid>
                <a:gridCol w="2999105"/>
                <a:gridCol w="3041650"/>
              </a:tblGrid>
              <a:tr h="296545">
                <a:tc>
                  <a:txBody>
                    <a:bodyPr/>
                    <a:lstStyle/>
                    <a:p>
                      <a:pPr algn="l" fontAlgn="b"/>
                      <a:r>
                        <a:rPr lang="en-IN" sz="1200" b="1" u="none" strike="noStrike">
                          <a:solidFill>
                            <a:schemeClr val="accent2"/>
                          </a:solidFill>
                          <a:effectLst/>
                        </a:rPr>
                        <a:t>promotion_applied</a:t>
                      </a:r>
                      <a:endParaRPr lang="en-IN" sz="1200" b="1" i="0" u="none" strike="noStrike">
                        <a:solidFill>
                          <a:schemeClr val="accent2"/>
                        </a:solidFill>
                        <a:effectLst/>
                        <a:latin typeface="Calibri" panose="020F0502020204030204" pitchFamily="34" charset="0"/>
                      </a:endParaRPr>
                    </a:p>
                  </a:txBody>
                  <a:tcPr marL="12272" marR="12272" marT="8382" marB="0" anchor="b">
                    <a:solidFill>
                      <a:srgbClr val="0070C0"/>
                    </a:solidFill>
                  </a:tcPr>
                </a:tc>
                <a:tc>
                  <a:txBody>
                    <a:bodyPr/>
                    <a:lstStyle/>
                    <a:p>
                      <a:pPr algn="l" fontAlgn="b"/>
                      <a:r>
                        <a:rPr lang="en-IN" sz="1200" b="1" u="none" strike="noStrike">
                          <a:solidFill>
                            <a:schemeClr val="accent2"/>
                          </a:solidFill>
                          <a:effectLst/>
                        </a:rPr>
                        <a:t>Sum of Total Revenue</a:t>
                      </a:r>
                      <a:endParaRPr lang="en-IN" sz="1200" b="1" i="0" u="none" strike="noStrike">
                        <a:solidFill>
                          <a:schemeClr val="accent2"/>
                        </a:solidFill>
                        <a:effectLst/>
                        <a:latin typeface="Calibri" panose="020F0502020204030204" pitchFamily="34" charset="0"/>
                      </a:endParaRPr>
                    </a:p>
                  </a:txBody>
                  <a:tcPr marL="12272" marR="12272" marT="8382" marB="0" anchor="b">
                    <a:solidFill>
                      <a:srgbClr val="0070C0"/>
                    </a:solidFill>
                  </a:tcPr>
                </a:tc>
              </a:tr>
              <a:tr h="296545">
                <a:tc>
                  <a:txBody>
                    <a:bodyPr/>
                    <a:lstStyle/>
                    <a:p>
                      <a:pPr algn="l" fontAlgn="b"/>
                      <a:r>
                        <a:rPr lang="en-IN" sz="1200" b="1" u="none" strike="noStrike">
                          <a:solidFill>
                            <a:schemeClr val="accent2"/>
                          </a:solidFill>
                          <a:effectLst/>
                        </a:rPr>
                        <a:t>FALSE</a:t>
                      </a:r>
                      <a:endParaRPr lang="en-IN" sz="1200" b="1" i="0" u="none" strike="noStrike">
                        <a:solidFill>
                          <a:schemeClr val="accent2"/>
                        </a:solidFill>
                        <a:effectLst/>
                        <a:latin typeface="Calibri" panose="020F0502020204030204" pitchFamily="34" charset="0"/>
                      </a:endParaRPr>
                    </a:p>
                  </a:txBody>
                  <a:tcPr marL="12272" marR="12272" marT="8382" marB="0" anchor="b">
                    <a:solidFill>
                      <a:srgbClr val="0070C0"/>
                    </a:solidFill>
                  </a:tcPr>
                </a:tc>
                <a:tc>
                  <a:txBody>
                    <a:bodyPr/>
                    <a:lstStyle/>
                    <a:p>
                      <a:pPr algn="l" fontAlgn="b"/>
                      <a:r>
                        <a:rPr lang="en-IN" sz="1200" b="1" u="none" strike="noStrike" dirty="0">
                          <a:solidFill>
                            <a:schemeClr val="accent2"/>
                          </a:solidFill>
                          <a:effectLst/>
                        </a:rPr>
                        <a:t>7201190.42</a:t>
                      </a:r>
                      <a:endParaRPr lang="en-IN" sz="1200" b="1" i="0" u="none" strike="noStrike" dirty="0">
                        <a:solidFill>
                          <a:schemeClr val="accent2"/>
                        </a:solidFill>
                        <a:effectLst/>
                        <a:latin typeface="Calibri" panose="020F0502020204030204" pitchFamily="34" charset="0"/>
                      </a:endParaRPr>
                    </a:p>
                  </a:txBody>
                  <a:tcPr marL="12272" marR="12272" marT="8382" marB="0" anchor="b">
                    <a:solidFill>
                      <a:srgbClr val="0070C0"/>
                    </a:solidFill>
                  </a:tcPr>
                </a:tc>
              </a:tr>
              <a:tr h="296545">
                <a:tc>
                  <a:txBody>
                    <a:bodyPr/>
                    <a:lstStyle/>
                    <a:p>
                      <a:pPr algn="l" fontAlgn="b"/>
                      <a:r>
                        <a:rPr lang="en-IN" sz="1200" b="1" u="none" strike="noStrike">
                          <a:solidFill>
                            <a:schemeClr val="accent2"/>
                          </a:solidFill>
                          <a:effectLst/>
                        </a:rPr>
                        <a:t>TRUE</a:t>
                      </a:r>
                      <a:endParaRPr lang="en-IN" sz="1200" b="1" i="0" u="none" strike="noStrike">
                        <a:solidFill>
                          <a:schemeClr val="accent2"/>
                        </a:solidFill>
                        <a:effectLst/>
                        <a:latin typeface="Calibri" panose="020F0502020204030204" pitchFamily="34" charset="0"/>
                      </a:endParaRPr>
                    </a:p>
                  </a:txBody>
                  <a:tcPr marL="12272" marR="12272" marT="8382" marB="0" anchor="b">
                    <a:solidFill>
                      <a:srgbClr val="0070C0"/>
                    </a:solidFill>
                  </a:tcPr>
                </a:tc>
                <a:tc>
                  <a:txBody>
                    <a:bodyPr/>
                    <a:lstStyle/>
                    <a:p>
                      <a:pPr algn="l" fontAlgn="b"/>
                      <a:r>
                        <a:rPr lang="en-IN" sz="1200" b="1" u="none" strike="noStrike" dirty="0">
                          <a:solidFill>
                            <a:schemeClr val="accent2"/>
                          </a:solidFill>
                          <a:effectLst/>
                        </a:rPr>
                        <a:t>8062411.03</a:t>
                      </a:r>
                      <a:endParaRPr lang="en-IN" sz="1200" b="1" i="0" u="none" strike="noStrike" dirty="0">
                        <a:solidFill>
                          <a:schemeClr val="accent2"/>
                        </a:solidFill>
                        <a:effectLst/>
                        <a:latin typeface="Calibri" panose="020F0502020204030204" pitchFamily="34" charset="0"/>
                      </a:endParaRPr>
                    </a:p>
                  </a:txBody>
                  <a:tcPr marL="12272" marR="12272" marT="8382" marB="0" anchor="b">
                    <a:solidFill>
                      <a:srgbClr val="0070C0"/>
                    </a:solidFill>
                  </a:tcPr>
                </a:tc>
              </a:tr>
              <a:tr h="296545">
                <a:tc>
                  <a:txBody>
                    <a:bodyPr/>
                    <a:lstStyle/>
                    <a:p>
                      <a:pPr algn="l" fontAlgn="b"/>
                      <a:r>
                        <a:rPr lang="en-IN" sz="1200" b="1" u="none" strike="noStrike">
                          <a:solidFill>
                            <a:schemeClr val="accent2"/>
                          </a:solidFill>
                          <a:effectLst/>
                        </a:rPr>
                        <a:t>Grand Total</a:t>
                      </a:r>
                      <a:endParaRPr lang="en-IN" sz="1200" b="1" i="0" u="none" strike="noStrike">
                        <a:solidFill>
                          <a:schemeClr val="accent2"/>
                        </a:solidFill>
                        <a:effectLst/>
                        <a:latin typeface="Calibri" panose="020F0502020204030204" pitchFamily="34" charset="0"/>
                      </a:endParaRPr>
                    </a:p>
                  </a:txBody>
                  <a:tcPr marL="12272" marR="12272" marT="8382" marB="0" anchor="b">
                    <a:solidFill>
                      <a:srgbClr val="0070C0"/>
                    </a:solidFill>
                  </a:tcPr>
                </a:tc>
                <a:tc>
                  <a:txBody>
                    <a:bodyPr/>
                    <a:lstStyle/>
                    <a:p>
                      <a:pPr algn="l" fontAlgn="b"/>
                      <a:r>
                        <a:rPr lang="en-IN" sz="1200" b="1" u="none" strike="noStrike" dirty="0">
                          <a:solidFill>
                            <a:schemeClr val="accent2"/>
                          </a:solidFill>
                          <a:effectLst/>
                        </a:rPr>
                        <a:t>15263601.45</a:t>
                      </a:r>
                      <a:endParaRPr lang="en-IN" sz="1200" b="1" i="0" u="none" strike="noStrike" dirty="0">
                        <a:solidFill>
                          <a:schemeClr val="accent2"/>
                        </a:solidFill>
                        <a:effectLst/>
                        <a:latin typeface="Calibri" panose="020F0502020204030204" pitchFamily="34" charset="0"/>
                      </a:endParaRPr>
                    </a:p>
                  </a:txBody>
                  <a:tcPr marL="12272" marR="12272" marT="8382" marB="0" anchor="b">
                    <a:solidFill>
                      <a:srgbClr val="0070C0"/>
                    </a:solidFill>
                  </a:tcPr>
                </a:tc>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7947" y="360218"/>
            <a:ext cx="2918402" cy="618518"/>
          </a:xfrm>
          <a:prstGeom prst="rect">
            <a:avLst/>
          </a:prstGeom>
        </p:spPr>
      </p:pic>
      <p:sp>
        <p:nvSpPr>
          <p:cNvPr id="9" name="TextBox 8"/>
          <p:cNvSpPr txBox="1"/>
          <p:nvPr/>
        </p:nvSpPr>
        <p:spPr>
          <a:xfrm>
            <a:off x="3034145" y="2650358"/>
            <a:ext cx="6105236" cy="467629"/>
          </a:xfrm>
          <a:prstGeom prst="rect">
            <a:avLst/>
          </a:prstGeom>
          <a:noFill/>
        </p:spPr>
        <p:txBody>
          <a:bodyPr wrap="square">
            <a:spAutoFit/>
          </a:bodyPr>
          <a:lstStyle/>
          <a:p>
            <a:pPr>
              <a:lnSpc>
                <a:spcPct val="107000"/>
              </a:lnSpc>
              <a:spcAft>
                <a:spcPts val="800"/>
              </a:spcAft>
            </a:pPr>
            <a:r>
              <a:rPr lang="en-US" sz="2400" b="1" u="sng" kern="100" dirty="0">
                <a:solidFill>
                  <a:srgbClr val="FFC000"/>
                </a:solidFill>
                <a:effectLst/>
                <a:latin typeface="Arial" panose="020B0604020202020204" pitchFamily="34" charset="0"/>
                <a:ea typeface="Calibri" panose="020F0502020204030204" pitchFamily="34" charset="0"/>
                <a:cs typeface="Times New Roman" panose="02020603050405020304" pitchFamily="18" charset="0"/>
              </a:rPr>
              <a:t> </a:t>
            </a:r>
            <a:endParaRPr lang="en-US" sz="1600" kern="100" dirty="0">
              <a:effectLst/>
              <a:latin typeface="Calibri" panose="020F0502020204030204" pitchFamily="34" charset="0"/>
              <a:cs typeface="Times New Roman" panose="02020603050405020304" pitchFamily="18" charset="0"/>
            </a:endParaRPr>
          </a:p>
        </p:txBody>
      </p:sp>
      <p:graphicFrame>
        <p:nvGraphicFramePr>
          <p:cNvPr id="12" name="Table 11"/>
          <p:cNvGraphicFramePr>
            <a:graphicFrameLocks noGrp="1"/>
          </p:cNvGraphicFramePr>
          <p:nvPr>
            <p:custDataLst>
              <p:tags r:id="rId3"/>
            </p:custDataLst>
          </p:nvPr>
        </p:nvGraphicFramePr>
        <p:xfrm>
          <a:off x="1235075" y="5589270"/>
          <a:ext cx="6040755" cy="870585"/>
        </p:xfrm>
        <a:graphic>
          <a:graphicData uri="http://schemas.openxmlformats.org/drawingml/2006/table">
            <a:tbl>
              <a:tblPr>
                <a:tableStyleId>{5C22544A-7EE6-4342-B048-85BDC9FD1C3A}</a:tableStyleId>
              </a:tblPr>
              <a:tblGrid>
                <a:gridCol w="2341245"/>
                <a:gridCol w="1208405"/>
                <a:gridCol w="1207770"/>
                <a:gridCol w="1283335"/>
              </a:tblGrid>
              <a:tr h="344805">
                <a:tc>
                  <a:txBody>
                    <a:bodyPr/>
                    <a:lstStyle/>
                    <a:p>
                      <a:pPr algn="l" fontAlgn="b"/>
                      <a:r>
                        <a:rPr lang="en-IN" sz="1100" u="none" strike="noStrike">
                          <a:effectLst/>
                        </a:rPr>
                        <a:t>Sum of quantity_sold</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a:effectLst/>
                        </a:rPr>
                        <a:t>category</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l" fontAlgn="b"/>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r>
              <a:tr h="175260">
                <a:tc>
                  <a:txBody>
                    <a:bodyPr/>
                    <a:lstStyle/>
                    <a:p>
                      <a:pPr algn="l" fontAlgn="b"/>
                      <a:r>
                        <a:rPr lang="en-IN" sz="1100" u="none" strike="noStrike">
                          <a:effectLst/>
                        </a:rPr>
                        <a:t>holiday_indicator</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a:effectLst/>
                        </a:rPr>
                        <a:t>Appliances</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a:effectLst/>
                        </a:rPr>
                        <a:t>Electronics</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l" fontAlgn="b"/>
                      <a:r>
                        <a:rPr lang="en-IN" sz="1100" u="none" strike="noStrike" dirty="0">
                          <a:effectLst/>
                        </a:rPr>
                        <a:t>Grand Total</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0070C0"/>
                    </a:solidFill>
                  </a:tcPr>
                </a:tc>
              </a:tr>
              <a:tr h="175260">
                <a:tc>
                  <a:txBody>
                    <a:bodyPr/>
                    <a:lstStyle/>
                    <a:p>
                      <a:pPr algn="l" fontAlgn="b"/>
                      <a:r>
                        <a:rPr lang="en-IN" sz="1100" u="none" strike="noStrike">
                          <a:effectLst/>
                        </a:rPr>
                        <a:t>TRUE</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r" fontAlgn="b"/>
                      <a:r>
                        <a:rPr lang="en-IN" sz="1100" u="none" strike="noStrike">
                          <a:effectLst/>
                        </a:rPr>
                        <a:t>47.96%</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r" fontAlgn="b"/>
                      <a:r>
                        <a:rPr lang="en-IN" sz="1100" u="none" strike="noStrike">
                          <a:effectLst/>
                        </a:rPr>
                        <a:t>52.04%</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r" fontAlgn="b"/>
                      <a:r>
                        <a:rPr lang="en-IN" sz="1100" u="none" strike="noStrike">
                          <a:effectLst/>
                        </a:rPr>
                        <a:t>100.00%</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70C0"/>
                    </a:solidFill>
                  </a:tcPr>
                </a:tc>
              </a:tr>
              <a:tr h="175260">
                <a:tc>
                  <a:txBody>
                    <a:bodyPr/>
                    <a:lstStyle/>
                    <a:p>
                      <a:pPr algn="l" fontAlgn="b"/>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r" fontAlgn="b"/>
                      <a:r>
                        <a:rPr lang="en-IN" sz="1100" u="none" strike="noStrike">
                          <a:effectLst/>
                        </a:rPr>
                        <a:t>47.96%</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r" fontAlgn="b"/>
                      <a:r>
                        <a:rPr lang="en-IN" sz="1100" u="none" strike="noStrike">
                          <a:effectLst/>
                        </a:rPr>
                        <a:t>52.04%</a:t>
                      </a:r>
                      <a:endParaRPr lang="en-IN" sz="1100" b="1" i="0" u="none" strike="noStrike">
                        <a:solidFill>
                          <a:srgbClr val="000000"/>
                        </a:solidFill>
                        <a:effectLst/>
                        <a:latin typeface="Calibri" panose="020F0502020204030204" pitchFamily="34" charset="0"/>
                      </a:endParaRPr>
                    </a:p>
                  </a:txBody>
                  <a:tcPr marL="7620" marR="7620" marT="7620" marB="0" anchor="b">
                    <a:solidFill>
                      <a:srgbClr val="0070C0"/>
                    </a:solidFill>
                  </a:tcPr>
                </a:tc>
                <a:tc>
                  <a:txBody>
                    <a:bodyPr/>
                    <a:lstStyle/>
                    <a:p>
                      <a:pPr algn="r" fontAlgn="b"/>
                      <a:r>
                        <a:rPr lang="en-IN" sz="1100" u="none" strike="noStrike" dirty="0">
                          <a:effectLst/>
                        </a:rPr>
                        <a:t>100.00%</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0070C0"/>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920" y="2207493"/>
            <a:ext cx="9905998" cy="683489"/>
          </a:xfrm>
        </p:spPr>
        <p:txBody>
          <a:bodyPr>
            <a:normAutofit fontScale="90000"/>
          </a:bodyPr>
          <a:lstStyle/>
          <a:p>
            <a:pPr lvl="0">
              <a:lnSpc>
                <a:spcPct val="107000"/>
              </a:lnSpc>
              <a:spcAft>
                <a:spcPts val="800"/>
              </a:spcAft>
              <a:buClr>
                <a:srgbClr val="4472C4"/>
              </a:buClr>
            </a:pPr>
            <a:r>
              <a:rPr lang="en-US" sz="2665" b="1" kern="0" dirty="0">
                <a:solidFill>
                  <a:schemeClr val="bg1"/>
                </a:solidFill>
                <a:effectLst/>
                <a:latin typeface="+mn-lt"/>
                <a:ea typeface="Times New Roman" panose="02020603050405020304" pitchFamily="18" charset="0"/>
                <a:cs typeface="+mn-lt"/>
              </a:rPr>
              <a:t>Product categories see the largest increase in demand during holidays</a:t>
            </a:r>
            <a:br>
              <a:rPr lang="en-US" sz="2665" b="1" kern="100" dirty="0">
                <a:solidFill>
                  <a:schemeClr val="bg1"/>
                </a:solidFill>
                <a:effectLst/>
                <a:latin typeface="+mn-lt"/>
                <a:cs typeface="+mn-lt"/>
              </a:rPr>
            </a:br>
            <a:r>
              <a:rPr lang="en-US" sz="1600" b="1" kern="100" dirty="0">
                <a:effectLst/>
                <a:latin typeface="Calibri" panose="020F0502020204030204" pitchFamily="34" charset="0"/>
                <a:cs typeface="Times New Roman" panose="02020603050405020304" pitchFamily="18" charset="0"/>
              </a:rPr>
              <a:t>Answer :</a:t>
            </a:r>
            <a:r>
              <a:rPr lang="en-US" sz="1600" b="1" kern="0" dirty="0">
                <a:solidFill>
                  <a:schemeClr val="tx1">
                    <a:lumMod val="95000"/>
                  </a:schemeClr>
                </a:solidFill>
                <a:effectLst/>
                <a:latin typeface="Arial" panose="020B0604020202020204" pitchFamily="34" charset="0"/>
                <a:ea typeface="Times New Roman" panose="02020603050405020304" pitchFamily="18" charset="0"/>
                <a:cs typeface="Times New Roman" panose="02020603050405020304" pitchFamily="18" charset="0"/>
              </a:rPr>
              <a:t>Electronics:52.4%</a:t>
            </a:r>
            <a:endParaRPr lang="en-US" sz="1600" b="1" kern="100" dirty="0">
              <a:solidFill>
                <a:schemeClr val="tx1">
                  <a:lumMod val="95000"/>
                </a:schemeClr>
              </a:solidFill>
              <a:effectLst/>
              <a:latin typeface="Calibri" panose="020F0502020204030204" pitchFamily="34"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1838036" y="3066474"/>
          <a:ext cx="9209377" cy="2724726"/>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Box 5"/>
          <p:cNvSpPr txBox="1"/>
          <p:nvPr/>
        </p:nvSpPr>
        <p:spPr>
          <a:xfrm>
            <a:off x="1551709" y="1376213"/>
            <a:ext cx="9520409" cy="369332"/>
          </a:xfrm>
          <a:prstGeom prst="rect">
            <a:avLst/>
          </a:prstGeom>
          <a:noFill/>
        </p:spPr>
        <p:txBody>
          <a:bodyPr wrap="square">
            <a:spAutoFit/>
          </a:bodyPr>
          <a:lstStyle/>
          <a:p>
            <a:r>
              <a:rPr lang="en-US" sz="1800" b="1" dirty="0">
                <a:solidFill>
                  <a:srgbClr val="0070C0"/>
                </a:solidFill>
              </a:rPr>
              <a:t>KPI’S (Key PERFORMANCE INDICATORS)</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7947" y="360218"/>
            <a:ext cx="2918402" cy="6185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730" y="1274445"/>
            <a:ext cx="9906000" cy="522605"/>
          </a:xfrm>
        </p:spPr>
        <p:txBody>
          <a:bodyPr>
            <a:normAutofit fontScale="90000"/>
          </a:bodyPr>
          <a:lstStyle/>
          <a:p>
            <a:br>
              <a:rPr lang="en-US" sz="2400" b="1"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br>
            <a:br>
              <a:rPr lang="en-US" sz="2400" b="1"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br>
            <a:br>
              <a:rPr lang="en-US" sz="2400" b="1"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br>
            <a:r>
              <a:rPr lang="en-US" sz="2400" b="1"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Conclusion</a:t>
            </a:r>
            <a:br>
              <a:rPr lang="en-US" sz="2400" kern="100" dirty="0">
                <a:solidFill>
                  <a:srgbClr val="0070C0"/>
                </a:solidFill>
                <a:effectLst/>
                <a:latin typeface="Calibri" panose="020F0502020204030204" pitchFamily="34" charset="0"/>
                <a:cs typeface="Times New Roman" panose="02020603050405020304" pitchFamily="18" charset="0"/>
              </a:rPr>
            </a:br>
            <a:endParaRPr lang="en-IN" sz="2400" dirty="0">
              <a:solidFill>
                <a:srgbClr val="0070C0"/>
              </a:solidFill>
            </a:endParaRPr>
          </a:p>
        </p:txBody>
      </p:sp>
      <p:sp>
        <p:nvSpPr>
          <p:cNvPr id="3" name="Content Placeholder 2"/>
          <p:cNvSpPr>
            <a:spLocks noGrp="1"/>
          </p:cNvSpPr>
          <p:nvPr>
            <p:ph idx="1"/>
          </p:nvPr>
        </p:nvSpPr>
        <p:spPr>
          <a:xfrm>
            <a:off x="1141412" y="2249487"/>
            <a:ext cx="9905999" cy="1179513"/>
          </a:xfrm>
        </p:spPr>
        <p:txBody>
          <a:bodyPr>
            <a:noAutofit/>
          </a:bodyPr>
          <a:lstStyle/>
          <a:p>
            <a:pPr>
              <a:lnSpc>
                <a:spcPct val="107000"/>
              </a:lnSpc>
              <a:spcAft>
                <a:spcPts val="800"/>
              </a:spcAft>
            </a:pPr>
            <a:r>
              <a:rPr lang="en-US" kern="100" dirty="0">
                <a:solidFill>
                  <a:schemeClr val="bg1"/>
                </a:solidFill>
                <a:effectLst/>
                <a:ea typeface="Calibri" panose="020F0502020204030204" pitchFamily="34" charset="0"/>
                <a:cs typeface="+mn-lt"/>
              </a:rPr>
              <a:t>By integrating above concepts, Walmart can dynamically adjust inventory levels in response to real-time insights, streamline operations, reduce costs, and improve customer satisfaction.</a:t>
            </a:r>
            <a:endParaRPr lang="en-US" kern="100" dirty="0">
              <a:solidFill>
                <a:schemeClr val="bg1"/>
              </a:solidFill>
              <a:effectLst/>
              <a:cs typeface="+mn-lt"/>
            </a:endParaRPr>
          </a:p>
          <a:p>
            <a:endParaRPr lang="en-US" kern="100" dirty="0">
              <a:solidFill>
                <a:schemeClr val="bg1"/>
              </a:solidFill>
              <a:effectLst/>
              <a:cs typeface="+mn-lt"/>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67947" y="360218"/>
            <a:ext cx="2918402" cy="618518"/>
          </a:xfrm>
          <a:prstGeom prst="rect">
            <a:avLst/>
          </a:prstGeom>
        </p:spPr>
      </p:pic>
      <p:pic>
        <p:nvPicPr>
          <p:cNvPr id="7" name="Picture 6"/>
          <p:cNvPicPr/>
          <p:nvPr/>
        </p:nvPicPr>
        <p:blipFill>
          <a:blip r:embed="rId2"/>
          <a:stretch>
            <a:fillRect/>
          </a:stretch>
        </p:blipFill>
        <p:spPr>
          <a:xfrm>
            <a:off x="3722370" y="3580765"/>
            <a:ext cx="4743450" cy="19926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p:cNvSpPr txBox="1">
            <a:spLocks noGrp="1"/>
          </p:cNvSpPr>
          <p:nvPr>
            <p:ph type="title"/>
          </p:nvPr>
        </p:nvSpPr>
        <p:spPr>
          <a:xfrm>
            <a:off x="1365503" y="1403608"/>
            <a:ext cx="10235370" cy="15661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6300"/>
              </a:lnSpc>
            </a:pPr>
            <a:r>
              <a:rPr lang="en-US" sz="4500" b="1" dirty="0">
                <a:solidFill>
                  <a:srgbClr val="C0B96E"/>
                </a:solidFill>
                <a:latin typeface="Canva Sans Bold" panose="020B0803030501040103"/>
                <a:ea typeface="Canva Sans Bold" panose="020B0803030501040103"/>
                <a:cs typeface="Canva Sans Bold" panose="020B0803030501040103"/>
                <a:sym typeface="Canva Sans Bold" panose="020B0803030501040103"/>
              </a:rPr>
              <a:t>THANK YOU</a:t>
            </a:r>
            <a:br>
              <a:rPr lang="en-US" sz="4500" b="1" dirty="0">
                <a:solidFill>
                  <a:srgbClr val="C0B96E"/>
                </a:solidFill>
                <a:latin typeface="Canva Sans Bold" panose="020B0803030501040103"/>
                <a:ea typeface="Canva Sans Bold" panose="020B0803030501040103"/>
                <a:cs typeface="Canva Sans Bold" panose="020B0803030501040103"/>
                <a:sym typeface="Canva Sans Bold" panose="020B0803030501040103"/>
              </a:rPr>
            </a:br>
            <a:r>
              <a:rPr lang="en-US" sz="2800" b="1" dirty="0">
                <a:solidFill>
                  <a:srgbClr val="C0B96E"/>
                </a:solidFill>
                <a:latin typeface="Canva Sans Bold" panose="020B0803030501040103"/>
                <a:ea typeface="Canva Sans Bold" panose="020B0803030501040103"/>
                <a:cs typeface="Canva Sans Bold" panose="020B0803030501040103"/>
                <a:sym typeface="Canva Sans Bold" panose="020B0803030501040103"/>
              </a:rPr>
              <a:t>For Any QUERY CONTACT US on:</a:t>
            </a:r>
            <a:endParaRPr lang="en-US" sz="2800" b="1" dirty="0">
              <a:solidFill>
                <a:srgbClr val="C0B96E"/>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 name="TextBox 8"/>
          <p:cNvSpPr txBox="1">
            <a:spLocks noGrp="1"/>
          </p:cNvSpPr>
          <p:nvPr>
            <p:ph idx="1"/>
          </p:nvPr>
        </p:nvSpPr>
        <p:spPr>
          <a:xfrm>
            <a:off x="1577340" y="3089910"/>
            <a:ext cx="6156325" cy="138493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lnSpc>
                <a:spcPts val="4900"/>
              </a:lnSpc>
              <a:buNone/>
            </a:pPr>
            <a:r>
              <a:rPr lang="en-US" sz="2400" dirty="0">
                <a:solidFill>
                  <a:schemeClr val="bg1"/>
                </a:solidFill>
                <a:ea typeface="Canva Sans" panose="020B0503030501040103"/>
                <a:cs typeface="+mn-lt"/>
                <a:sym typeface="Canva Sans" panose="020B0503030501040103"/>
                <a:hlinkClick r:id="rId1"/>
              </a:rPr>
              <a:t>suhane79jaya@gmail.com</a:t>
            </a:r>
            <a:endParaRPr lang="en-US" sz="2400" dirty="0">
              <a:solidFill>
                <a:schemeClr val="bg1"/>
              </a:solidFill>
              <a:ea typeface="Canva Sans" panose="020B0503030501040103"/>
              <a:cs typeface="+mn-lt"/>
              <a:sym typeface="Canva Sans" panose="020B0503030501040103"/>
            </a:endParaRPr>
          </a:p>
          <a:p>
            <a:pPr algn="ctr">
              <a:lnSpc>
                <a:spcPts val="4900"/>
              </a:lnSpc>
            </a:pPr>
            <a:endParaRPr lang="en-US" sz="2400" dirty="0">
              <a:solidFill>
                <a:schemeClr val="bg1"/>
              </a:solidFill>
              <a:ea typeface="Canva Sans" panose="020B0503030501040103"/>
              <a:cs typeface="+mn-lt"/>
              <a:sym typeface="Canva Sans" panose="020B0503030501040103"/>
            </a:endParaRPr>
          </a:p>
        </p:txBody>
      </p:sp>
      <p:sp>
        <p:nvSpPr>
          <p:cNvPr id="7" name="TextBox 9"/>
          <p:cNvSpPr txBox="1"/>
          <p:nvPr/>
        </p:nvSpPr>
        <p:spPr>
          <a:xfrm>
            <a:off x="2731135" y="4119245"/>
            <a:ext cx="9460865" cy="784860"/>
          </a:xfrm>
          <a:prstGeom prst="rect">
            <a:avLst/>
          </a:prstGeom>
          <a:noFill/>
          <a:ln>
            <a:noFill/>
          </a:ln>
        </p:spPr>
        <p:style>
          <a:lnRef idx="2">
            <a:schemeClr val="lt1"/>
          </a:lnRef>
          <a:fillRef idx="1">
            <a:schemeClr val="accent1"/>
          </a:fillRef>
          <a:effectRef idx="1">
            <a:schemeClr val="accent1"/>
          </a:effectRef>
          <a:fontRef idx="minor">
            <a:schemeClr val="lt1"/>
          </a:fontRef>
        </p:style>
        <p:txBody>
          <a:bodyPr wrap="square" lIns="0" tIns="0" rIns="0" bIns="0" rtlCol="0" anchor="t">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ts val="4900"/>
              </a:lnSpc>
            </a:pPr>
            <a:r>
              <a:rPr lang="en-US" sz="2400" dirty="0">
                <a:solidFill>
                  <a:schemeClr val="bg1"/>
                </a:solidFill>
                <a:latin typeface="Arial" panose="020B0604020202020204" pitchFamily="34" charset="0"/>
                <a:ea typeface="Arimo" panose="020B0604020202020204"/>
                <a:cs typeface="Arial" panose="020B0604020202020204" pitchFamily="34" charset="0"/>
                <a:sym typeface="Arimo" panose="020B0604020202020204"/>
                <a:hlinkClick r:id="rId2" tooltip="https://www.linkedin.com/in/jaya-suhane-776142275/"/>
              </a:rPr>
              <a:t>https://www.linkedin.com/in/jaya-suhane-776142275/</a:t>
            </a:r>
            <a:endParaRPr lang="en-US" sz="2400" dirty="0">
              <a:solidFill>
                <a:schemeClr val="bg1"/>
              </a:solidFill>
              <a:latin typeface="Arial" panose="020B0604020202020204" pitchFamily="34" charset="0"/>
              <a:ea typeface="Arimo" panose="020B0604020202020204"/>
              <a:cs typeface="Arial" panose="020B0604020202020204" pitchFamily="34" charset="0"/>
              <a:sym typeface="Arimo" panose="020B0604020202020204"/>
              <a:hlinkClick r:id="rId2" tooltip="https://www.linkedin.com/in/jaya-suhane-776142275/"/>
            </a:endParaRPr>
          </a:p>
        </p:txBody>
      </p:sp>
      <p:sp>
        <p:nvSpPr>
          <p:cNvPr id="9" name="TextBox 8"/>
          <p:cNvSpPr txBox="1"/>
          <p:nvPr/>
        </p:nvSpPr>
        <p:spPr>
          <a:xfrm>
            <a:off x="2730500" y="5328920"/>
            <a:ext cx="5927090" cy="460375"/>
          </a:xfrm>
          <a:prstGeom prst="rect">
            <a:avLst/>
          </a:prstGeom>
          <a:noFill/>
        </p:spPr>
        <p:txBody>
          <a:bodyPr wrap="square">
            <a:spAutoFit/>
          </a:bodyPr>
          <a:lstStyle/>
          <a:p>
            <a:r>
              <a:rPr lang="en-US" sz="2400" u="sng" dirty="0">
                <a:solidFill>
                  <a:schemeClr val="bg1"/>
                </a:solidFill>
                <a:latin typeface="Arial" panose="020B0604020202020204" pitchFamily="34" charset="0"/>
                <a:ea typeface="Arimo" panose="020B0604020202020204"/>
                <a:cs typeface="Arial" panose="020B0604020202020204" pitchFamily="34" charset="0"/>
                <a:sym typeface="Arimo" panose="020B0604020202020204"/>
                <a:hlinkClick r:id="rId2" tooltip="https://www.linkedin.com/in/jaya-suhane-776142275/"/>
              </a:rPr>
              <a:t>peerlist.io/</a:t>
            </a:r>
            <a:r>
              <a:rPr lang="en-US" sz="2400" u="sng" dirty="0" err="1">
                <a:solidFill>
                  <a:schemeClr val="bg1"/>
                </a:solidFill>
                <a:latin typeface="Arial" panose="020B0604020202020204" pitchFamily="34" charset="0"/>
                <a:ea typeface="Arimo" panose="020B0604020202020204"/>
                <a:cs typeface="Arial" panose="020B0604020202020204" pitchFamily="34" charset="0"/>
                <a:sym typeface="Arimo" panose="020B0604020202020204"/>
                <a:hlinkClick r:id="rId2" tooltip="https://www.linkedin.com/in/jaya-suhane-776142275/"/>
              </a:rPr>
              <a:t>jayasuhane</a:t>
            </a:r>
            <a:r>
              <a:rPr lang="en-US" sz="2400" u="sng" dirty="0">
                <a:solidFill>
                  <a:schemeClr val="bg1"/>
                </a:solidFill>
                <a:latin typeface="Arial" panose="020B0604020202020204" pitchFamily="34" charset="0"/>
                <a:ea typeface="Arimo" panose="020B0604020202020204"/>
                <a:cs typeface="Arial" panose="020B0604020202020204" pitchFamily="34" charset="0"/>
                <a:sym typeface="Arimo" panose="020B0604020202020204"/>
                <a:hlinkClick r:id="rId2" tooltip="https://www.linkedin.com/in/jaya-suhane-776142275/"/>
              </a:rPr>
              <a:t>/</a:t>
            </a:r>
            <a:endParaRPr lang="en-IN" sz="2400" dirty="0">
              <a:solidFill>
                <a:schemeClr val="bg1"/>
              </a:solidFill>
              <a:latin typeface="Arial" panose="020B0604020202020204" pitchFamily="34" charset="0"/>
              <a:cs typeface="Arial" panose="020B0604020202020204" pitchFamily="34" charset="0"/>
            </a:endParaRPr>
          </a:p>
        </p:txBody>
      </p:sp>
      <p:sp>
        <p:nvSpPr>
          <p:cNvPr id="10" name="Freeform 3"/>
          <p:cNvSpPr/>
          <p:nvPr/>
        </p:nvSpPr>
        <p:spPr>
          <a:xfrm>
            <a:off x="1833475" y="3265087"/>
            <a:ext cx="625831" cy="560022"/>
          </a:xfrm>
          <a:custGeom>
            <a:avLst/>
            <a:gdLst/>
            <a:ahLst/>
            <a:cxnLst/>
            <a:rect l="l" t="t" r="r" b="b"/>
            <a:pathLst>
              <a:path w="625831" h="625831">
                <a:moveTo>
                  <a:pt x="0" y="0"/>
                </a:moveTo>
                <a:lnTo>
                  <a:pt x="625832" y="0"/>
                </a:lnTo>
                <a:lnTo>
                  <a:pt x="625832" y="625831"/>
                </a:lnTo>
                <a:lnTo>
                  <a:pt x="0" y="625831"/>
                </a:lnTo>
                <a:lnTo>
                  <a:pt x="0" y="0"/>
                </a:lnTo>
                <a:close/>
              </a:path>
            </a:pathLst>
          </a:custGeom>
          <a:blipFill>
            <a:blip r:embed="rId3"/>
            <a:stretch>
              <a:fillRect/>
            </a:stretch>
          </a:blipFill>
        </p:spPr>
      </p:sp>
      <p:sp>
        <p:nvSpPr>
          <p:cNvPr id="11" name="Freeform 4"/>
          <p:cNvSpPr/>
          <p:nvPr/>
        </p:nvSpPr>
        <p:spPr>
          <a:xfrm>
            <a:off x="1711441" y="3979406"/>
            <a:ext cx="924707" cy="924707"/>
          </a:xfrm>
          <a:custGeom>
            <a:avLst/>
            <a:gdLst/>
            <a:ahLst/>
            <a:cxnLst/>
            <a:rect l="l" t="t" r="r" b="b"/>
            <a:pathLst>
              <a:path w="924707" h="924707">
                <a:moveTo>
                  <a:pt x="0" y="0"/>
                </a:moveTo>
                <a:lnTo>
                  <a:pt x="924706" y="0"/>
                </a:lnTo>
                <a:lnTo>
                  <a:pt x="924706" y="924707"/>
                </a:lnTo>
                <a:lnTo>
                  <a:pt x="0" y="924707"/>
                </a:lnTo>
                <a:lnTo>
                  <a:pt x="0" y="0"/>
                </a:lnTo>
                <a:close/>
              </a:path>
            </a:pathLst>
          </a:custGeom>
          <a:blipFill>
            <a:blip r:embed="rId4"/>
            <a:stretch>
              <a:fillRect/>
            </a:stretch>
          </a:blipFill>
        </p:spPr>
      </p:sp>
      <p:sp>
        <p:nvSpPr>
          <p:cNvPr id="12" name="Freeform 5"/>
          <p:cNvSpPr/>
          <p:nvPr/>
        </p:nvSpPr>
        <p:spPr>
          <a:xfrm>
            <a:off x="1833039" y="5010783"/>
            <a:ext cx="680242" cy="723017"/>
          </a:xfrm>
          <a:custGeom>
            <a:avLst/>
            <a:gdLst/>
            <a:ahLst/>
            <a:cxnLst/>
            <a:rect l="l" t="t" r="r" b="b"/>
            <a:pathLst>
              <a:path w="1170174" h="865928">
                <a:moveTo>
                  <a:pt x="0" y="0"/>
                </a:moveTo>
                <a:lnTo>
                  <a:pt x="1170173" y="0"/>
                </a:lnTo>
                <a:lnTo>
                  <a:pt x="1170173" y="865928"/>
                </a:lnTo>
                <a:lnTo>
                  <a:pt x="0" y="865928"/>
                </a:lnTo>
                <a:lnTo>
                  <a:pt x="0" y="0"/>
                </a:lnTo>
                <a:close/>
              </a:path>
            </a:pathLst>
          </a:custGeom>
          <a:blipFill>
            <a:blip r:embed="rId5"/>
            <a:stretch>
              <a:fillRect/>
            </a:stretch>
          </a:blipFill>
        </p:spPr>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23987" y="201957"/>
            <a:ext cx="2918402" cy="618518"/>
          </a:xfrm>
          <a:prstGeom prst="rect">
            <a:avLst/>
          </a:prstGeom>
        </p:spPr>
      </p:pic>
    </p:spTree>
  </p:cSld>
  <p:clrMapOvr>
    <a:masterClrMapping/>
  </p:clrMapOvr>
</p:sld>
</file>

<file path=ppt/tags/tag1.xml><?xml version="1.0" encoding="utf-8"?>
<p:tagLst xmlns:p="http://schemas.openxmlformats.org/presentationml/2006/main">
  <p:tag name="TABLE_ENDDRAG_ORIGIN_RECT" val="539*61"/>
  <p:tag name="TABLE_ENDDRAG_RECT" val="116*203*539*61"/>
</p:tagLst>
</file>

<file path=ppt/tags/tag2.xml><?xml version="1.0" encoding="utf-8"?>
<p:tagLst xmlns:p="http://schemas.openxmlformats.org/presentationml/2006/main">
  <p:tag name="TABLE_ENDDRAG_ORIGIN_RECT" val="558*133"/>
  <p:tag name="TABLE_ENDDRAG_RECT" val="116*337*558*133"/>
</p:tagLst>
</file>

<file path=ppt/tags/tag3.xml><?xml version="1.0" encoding="utf-8"?>
<p:tagLst xmlns:p="http://schemas.openxmlformats.org/presentationml/2006/main">
  <p:tag name="TABLE_ENDDRAG_ORIGIN_RECT" val="475*43"/>
  <p:tag name="TABLE_ENDDRAG_RECT" val="98*276*475*43"/>
</p:tagLst>
</file>

<file path=ppt/tags/tag4.xml><?xml version="1.0" encoding="utf-8"?>
<p:tagLst xmlns:p="http://schemas.openxmlformats.org/presentationml/2006/main">
  <p:tag name="TABLE_ENDDRAG_ORIGIN_RECT" val="475*53"/>
  <p:tag name="TABLE_ENDDRAG_RECT" val="97*454*475*53"/>
</p:tagLst>
</file>

<file path=ppt/theme/_rels/theme1.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0</TotalTime>
  <Words>5385</Words>
  <Application>WPS Presentation</Application>
  <PresentationFormat>Widescreen</PresentationFormat>
  <Paragraphs>224</Paragraphs>
  <Slides>15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15</vt:i4>
      </vt:variant>
    </vt:vector>
  </HeadingPairs>
  <TitlesOfParts>
    <vt:vector size="31" baseType="lpstr">
      <vt:lpstr>Arial</vt:lpstr>
      <vt:lpstr>SimSun</vt:lpstr>
      <vt:lpstr>Wingdings</vt:lpstr>
      <vt:lpstr>Trebuchet MS</vt:lpstr>
      <vt:lpstr>Calibri</vt:lpstr>
      <vt:lpstr>Times New Roman</vt:lpstr>
      <vt:lpstr>Canva Sans Bold</vt:lpstr>
      <vt:lpstr>Yu Gothic UI Semibold</vt:lpstr>
      <vt:lpstr>Canva Sans</vt:lpstr>
      <vt:lpstr>Arimo</vt:lpstr>
      <vt:lpstr>Tw Cen MT</vt:lpstr>
      <vt:lpstr>Microsoft YaHei</vt:lpstr>
      <vt:lpstr>Arial Unicode MS</vt:lpstr>
      <vt:lpstr>Material Icons</vt:lpstr>
      <vt:lpstr>Segoe Print</vt:lpstr>
      <vt:lpstr>Circuit</vt:lpstr>
      <vt:lpstr>Enhancing Walmart's Inventory Management through Real-Time Demand Forecasting</vt:lpstr>
      <vt:lpstr>Content</vt:lpstr>
      <vt:lpstr>Introduction </vt:lpstr>
      <vt:lpstr> Background</vt:lpstr>
      <vt:lpstr>Problem Statement and Solution</vt:lpstr>
      <vt:lpstr>Project Scope</vt:lpstr>
      <vt:lpstr>Methodology</vt:lpstr>
      <vt:lpstr>Agile METHODOLOGY</vt:lpstr>
      <vt:lpstr>Agile METHODOLOGY</vt:lpstr>
      <vt:lpstr>Goals and KPI’s </vt:lpstr>
      <vt:lpstr>KPI’S (Key PERFORMANCE INDICATORS)</vt:lpstr>
      <vt:lpstr>KPI’S (Key PERFORMANCE INDICATORS)</vt:lpstr>
      <vt:lpstr>Product categories see the largest increase in demand during holidays Answer :Electronics:52.4%</vt:lpstr>
      <vt:lpstr>   Conclusion </vt:lpstr>
      <vt:lpstr>THANK YOU For Any QUERY CONTACT US 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nagariya</dc:creator>
  <cp:lastModifiedBy>jaya nagariya</cp:lastModifiedBy>
  <cp:revision>23</cp:revision>
  <dcterms:created xsi:type="dcterms:W3CDTF">2025-02-03T11:07:00Z</dcterms:created>
  <dcterms:modified xsi:type="dcterms:W3CDTF">2025-02-05T11:27:59Z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82E7A20B91C14F02A80C5723649E74CB_12</vt:lpwstr>
  </property>
  <property fmtid="{D5CDD505-2E9C-101B-9397-08002B2CF9AE}" pid="3" name="KSOProductBuildVer">
    <vt:lpwstr>1033-12.2.0.19805</vt:lpwstr>
  </property>
</Properties>
</file>